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117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1183112" cy="0"/>
          </a:xfrm>
          <a:prstGeom prst="line">
            <a:avLst/>
          </a:prstGeom>
          <a:noFill/>
          <a:ln w="8890">
            <a:solidFill>
              <a:srgbClr val="34424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155448"/>
            <a:ext cx="512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61DA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REACTLAB · FRAMEWORKS FRONT-END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37392" y="13716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D8B8F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4F1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1183112" cy="0"/>
          </a:xfrm>
          <a:prstGeom prst="line">
            <a:avLst/>
          </a:prstGeom>
          <a:noFill/>
          <a:ln w="8890">
            <a:solidFill>
              <a:srgbClr val="C9D0C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155448"/>
            <a:ext cx="512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0798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REACTLAB · FRAMEWORKS FRONT-END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37392" y="13716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1808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37392" y="13716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D8B8F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react.dev/learn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react.dev/versions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react.dev/learn/creating-a-react-app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react.dev/learn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react.dev/learn/describing-the-ui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vite.dev/guide" TargetMode="Externa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react.dev/reference/react/hooks" TargetMode="Externa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engineering.fb.com/2025/10/07/open-source/introducing-the-react-foundation-the-new-home-for-react-react-native/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react.dev/blog/2025/12/03/critical-security-vulnerability-in-react-server-components" TargetMode="Externa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hyperlink" Target="https://react.dev/learn" TargetMode="External"/><Relationship Id="rId2" Type="http://schemas.openxmlformats.org/officeDocument/2006/relationships/hyperlink" Target="https://react.dev/versions" TargetMode="External"/><Relationship Id="rId3" Type="http://schemas.openxmlformats.org/officeDocument/2006/relationships/hyperlink" Target="https://vite.dev/guide" TargetMode="External"/><Relationship Id="rId4" Type="http://schemas.openxmlformats.org/officeDocument/2006/relationships/hyperlink" Target="https://react.dev/blog/blog/2025/12/03/critical-security-vulnerability-in-react-server-components" TargetMode="External"/><Relationship Id="rId5" Type="http://schemas.openxmlformats.org/officeDocument/2006/relationships/hyperlink" Target="https://docs.github.com/pages" TargetMode="External"/><Relationship Id="rId6" Type="http://schemas.openxmlformats.org/officeDocument/2006/relationships/hyperlink" Target="https://reactrouter.com/HashRouter" TargetMode="External"/><Relationship Id="rId7" Type="http://schemas.openxmlformats.org/officeDocument/2006/relationships/hyperlink" Target="https://github.com/luccalck/seminario-react-2ads" TargetMode="External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" y="960120"/>
            <a:ext cx="6035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EEF5F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REACT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658368" y="214884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1DAFB"/>
                </a:solidFill>
              </a:rPr>
              <a:t>interfaces Web baseadas em componentes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58368" y="285292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70" kern="0" dirty="0">
                <a:solidFill>
                  <a:srgbClr val="9EACA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SEMINÁRIO · 2º ADS · 22/09/2026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046720" y="2108606"/>
            <a:ext cx="2926080" cy="994867"/>
          </a:xfrm>
          <a:prstGeom prst="ellipse">
            <a:avLst/>
          </a:prstGeom>
          <a:solidFill>
            <a:srgbClr val="111719">
              <a:alpha val="0"/>
            </a:srgbClr>
          </a:solidFill>
          <a:ln w="31750">
            <a:solidFill>
              <a:srgbClr val="61DAFB">
                <a:alpha val="9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3600000">
            <a:off x="8046720" y="2108606"/>
            <a:ext cx="2926080" cy="994867"/>
          </a:xfrm>
          <a:prstGeom prst="ellipse">
            <a:avLst/>
          </a:prstGeom>
          <a:solidFill>
            <a:srgbClr val="111719">
              <a:alpha val="0"/>
            </a:srgbClr>
          </a:solidFill>
          <a:ln w="31750">
            <a:solidFill>
              <a:srgbClr val="61DAFB">
                <a:alpha val="9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7200000">
            <a:off x="8046720" y="2108606"/>
            <a:ext cx="2926080" cy="994867"/>
          </a:xfrm>
          <a:prstGeom prst="ellipse">
            <a:avLst/>
          </a:prstGeom>
          <a:solidFill>
            <a:srgbClr val="111719">
              <a:alpha val="0"/>
            </a:srgbClr>
          </a:solidFill>
          <a:ln w="31750">
            <a:solidFill>
              <a:srgbClr val="61DAFB">
                <a:alpha val="9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334195" y="2430475"/>
            <a:ext cx="351130" cy="351130"/>
          </a:xfrm>
          <a:prstGeom prst="ellipse">
            <a:avLst/>
          </a:prstGeom>
          <a:solidFill>
            <a:srgbClr val="61DAFB"/>
          </a:solidFill>
          <a:ln w="12700">
            <a:solidFill>
              <a:srgbClr val="61DAFB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4864608"/>
            <a:ext cx="1508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EF5F6"/>
                </a:solidFill>
              </a:rPr>
              <a:t>João Gabriel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304288" y="4864608"/>
            <a:ext cx="1508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EF5F6"/>
                </a:solidFill>
              </a:rPr>
              <a:t>João Pedro Fonseca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950208" y="4864608"/>
            <a:ext cx="1508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EF5F6"/>
                </a:solidFill>
              </a:rPr>
              <a:t>Lucas Souza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596128" y="4864608"/>
            <a:ext cx="1508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EF5F6"/>
                </a:solidFill>
              </a:rPr>
              <a:t>Miguel Oliveira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58368" y="5248656"/>
            <a:ext cx="1508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EF5F6"/>
                </a:solidFill>
              </a:rPr>
              <a:t>Davi Souza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2304288" y="5248656"/>
            <a:ext cx="1508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EF5F6"/>
                </a:solidFill>
              </a:rPr>
              <a:t>Lucca Castilho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950208" y="5248656"/>
            <a:ext cx="1508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EF5F6"/>
                </a:solidFill>
              </a:rPr>
              <a:t>Pedro de Lima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596128" y="5248656"/>
            <a:ext cx="1508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EF5F6"/>
                </a:solidFill>
              </a:rPr>
              <a:t>Renan Ramos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275320" y="5797296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EACAF"/>
                </a:solidFill>
              </a:rPr>
              <a:t>SENAI Félix Guisard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03504" y="6510528"/>
            <a:ext cx="9875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71808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Projeto e fontes: github.com/luccalck/seminario-react-2ads</a:t>
            </a:r>
            <a:endParaRPr lang="en-US" sz="74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37392" y="13716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D8B8F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" y="713232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spc="160" kern="0" dirty="0">
                <a:solidFill>
                  <a:srgbClr val="61DA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 · DEFINIÇÃO</a:t>
            </a:r>
            <a:endParaRPr lang="en-US" sz="920" dirty="0"/>
          </a:p>
        </p:txBody>
      </p:sp>
      <p:sp>
        <p:nvSpPr>
          <p:cNvPr id="3" name="Text 1"/>
          <p:cNvSpPr/>
          <p:nvPr/>
        </p:nvSpPr>
        <p:spPr>
          <a:xfrm>
            <a:off x="621792" y="1069848"/>
            <a:ext cx="658368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EF5F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Uma biblioteca para construir interfaces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2395728"/>
            <a:ext cx="6080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9EACA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React descreve a interface como função do estado.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685800" y="3246120"/>
            <a:ext cx="248716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203200" indent="-203200">
              <a:buSzPct val="100000"/>
              <a:buChar char="•"/>
            </a:pPr>
            <a:r>
              <a:rPr lang="en-US" sz="1400" dirty="0">
                <a:solidFill>
                  <a:srgbClr val="EEF5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JavaScript de código aberto</a:t>
            </a:r>
            <a:endParaRPr lang="en-US" sz="1400" dirty="0"/>
          </a:p>
          <a:p>
            <a:pPr marL="203200" indent="-203200">
              <a:buSzPct val="100000"/>
              <a:buChar char="•"/>
            </a:pPr>
            <a:r>
              <a:rPr lang="en-US" sz="1400" dirty="0">
                <a:solidFill>
                  <a:srgbClr val="EEF5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Componentes reutilizáveis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502152" y="3246120"/>
            <a:ext cx="248716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203200" indent="-203200">
              <a:buSzPct val="100000"/>
              <a:buChar char="•"/>
            </a:pPr>
            <a:r>
              <a:rPr lang="en-US" sz="1400" dirty="0">
                <a:solidFill>
                  <a:srgbClr val="EEF5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Camada de apresentação</a:t>
            </a:r>
            <a:endParaRPr lang="en-US" sz="1400" dirty="0"/>
          </a:p>
          <a:p>
            <a:pPr marL="203200" indent="-203200">
              <a:buSzPct val="100000"/>
              <a:buChar char="•"/>
            </a:pPr>
            <a:r>
              <a:rPr lang="en-US" sz="1400" dirty="0">
                <a:solidFill>
                  <a:srgbClr val="EEF5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Renderização declarativa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406640" y="1234440"/>
            <a:ext cx="3886200" cy="4297680"/>
          </a:xfrm>
          <a:prstGeom prst="rect">
            <a:avLst/>
          </a:prstGeom>
          <a:solidFill>
            <a:srgbClr val="172326"/>
          </a:solidFill>
          <a:ln w="12700">
            <a:solidFill>
              <a:srgbClr val="34424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18120" y="1673352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EF5F6"/>
                </a:solidFill>
              </a:rPr>
              <a:t>DADOS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9006840" y="2011680"/>
            <a:ext cx="594360" cy="320040"/>
          </a:xfrm>
          <a:prstGeom prst="downArrow">
            <a:avLst/>
          </a:prstGeom>
          <a:solidFill>
            <a:srgbClr val="61DAFB"/>
          </a:solidFill>
          <a:ln w="12700">
            <a:solidFill>
              <a:srgbClr val="61DAF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818120" y="2459736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EF5F6"/>
                </a:solidFill>
              </a:rPr>
              <a:t>ESTADO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9006840" y="2798064"/>
            <a:ext cx="594360" cy="320040"/>
          </a:xfrm>
          <a:prstGeom prst="downArrow">
            <a:avLst/>
          </a:prstGeom>
          <a:solidFill>
            <a:srgbClr val="61DAFB"/>
          </a:solidFill>
          <a:ln w="12700">
            <a:solidFill>
              <a:srgbClr val="61DAF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818120" y="324612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EF5F6"/>
                </a:solidFill>
              </a:rPr>
              <a:t>COMPONENTES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006840" y="3584448"/>
            <a:ext cx="594360" cy="320040"/>
          </a:xfrm>
          <a:prstGeom prst="downArrow">
            <a:avLst/>
          </a:prstGeom>
          <a:solidFill>
            <a:srgbClr val="61DAFB"/>
          </a:solidFill>
          <a:ln w="12700">
            <a:solidFill>
              <a:srgbClr val="61DAF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818120" y="4032504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1DAFB"/>
                </a:solidFill>
              </a:rPr>
              <a:t>INTERFACE</a:t>
            </a:r>
            <a:endParaRPr lang="en-US" sz="1400" dirty="0"/>
          </a:p>
        </p:txBody>
      </p:sp>
      <p:sp>
        <p:nvSpPr>
          <p:cNvPr id="15" name="Text 13">
            <a:hlinkClick r:id="rId1" tooltip=""/>
          </p:cNvPr>
          <p:cNvSpPr/>
          <p:nvPr/>
        </p:nvSpPr>
        <p:spPr>
          <a:xfrm>
            <a:off x="603504" y="6510528"/>
            <a:ext cx="9875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u="sng" dirty="0">
                <a:solidFill>
                  <a:srgbClr val="718084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https://react.dev/learn</a:t>
            </a:r>
            <a:endParaRPr lang="en-US" sz="74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37392" y="13716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D8B8F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" y="713232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spc="160" kern="0" dirty="0">
                <a:solidFill>
                  <a:srgbClr val="61DA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 · ORIGEM E EVOLUÇÃO</a:t>
            </a:r>
            <a:endParaRPr lang="en-US" sz="920" dirty="0"/>
          </a:p>
        </p:txBody>
      </p:sp>
      <p:sp>
        <p:nvSpPr>
          <p:cNvPr id="3" name="Text 1"/>
          <p:cNvSpPr/>
          <p:nvPr/>
        </p:nvSpPr>
        <p:spPr>
          <a:xfrm>
            <a:off x="621792" y="1069848"/>
            <a:ext cx="658368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EF5F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 2013 à React Foundation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2395728"/>
            <a:ext cx="6080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9EACA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tecnologia evoluiu sem abandonar o modelo de componentes.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777240" y="4663440"/>
            <a:ext cx="10515600" cy="0"/>
          </a:xfrm>
          <a:prstGeom prst="line">
            <a:avLst/>
          </a:prstGeom>
          <a:noFill/>
          <a:ln w="25400">
            <a:solidFill>
              <a:srgbClr val="34424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4517136"/>
            <a:ext cx="256032" cy="256032"/>
          </a:xfrm>
          <a:prstGeom prst="ellipse">
            <a:avLst/>
          </a:prstGeom>
          <a:solidFill>
            <a:srgbClr val="314146"/>
          </a:solidFill>
          <a:ln w="12700">
            <a:solidFill>
              <a:srgbClr val="61DAF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3703320"/>
            <a:ext cx="914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EF5F6"/>
                </a:solidFill>
              </a:rPr>
              <a:t>2013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77240" y="4956048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EACAF"/>
                </a:solidFill>
              </a:rPr>
              <a:t>Código aberto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880360" y="4517136"/>
            <a:ext cx="256032" cy="256032"/>
          </a:xfrm>
          <a:prstGeom prst="ellipse">
            <a:avLst/>
          </a:prstGeom>
          <a:solidFill>
            <a:srgbClr val="314146"/>
          </a:solidFill>
          <a:ln w="12700">
            <a:solidFill>
              <a:srgbClr val="61DAF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34640" y="3703320"/>
            <a:ext cx="914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EF5F6"/>
                </a:solidFill>
              </a:rPr>
              <a:t>2017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2834640" y="4956048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EACAF"/>
                </a:solidFill>
              </a:rPr>
              <a:t>Fiber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937760" y="4517136"/>
            <a:ext cx="256032" cy="256032"/>
          </a:xfrm>
          <a:prstGeom prst="ellipse">
            <a:avLst/>
          </a:prstGeom>
          <a:solidFill>
            <a:srgbClr val="314146"/>
          </a:solidFill>
          <a:ln w="12700">
            <a:solidFill>
              <a:srgbClr val="61DAF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92040" y="3703320"/>
            <a:ext cx="914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EF5F6"/>
                </a:solidFill>
              </a:rPr>
              <a:t>2019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892040" y="4956048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EACAF"/>
                </a:solidFill>
              </a:rPr>
              <a:t>Hooks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995160" y="4517136"/>
            <a:ext cx="256032" cy="256032"/>
          </a:xfrm>
          <a:prstGeom prst="ellipse">
            <a:avLst/>
          </a:prstGeom>
          <a:solidFill>
            <a:srgbClr val="314146"/>
          </a:solidFill>
          <a:ln w="12700">
            <a:solidFill>
              <a:srgbClr val="61DAF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49440" y="3703320"/>
            <a:ext cx="914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EF5F6"/>
                </a:solidFill>
              </a:rPr>
              <a:t>2022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949440" y="4956048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EACAF"/>
                </a:solidFill>
              </a:rPr>
              <a:t>React 18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9052560" y="4517136"/>
            <a:ext cx="256032" cy="256032"/>
          </a:xfrm>
          <a:prstGeom prst="ellipse">
            <a:avLst/>
          </a:prstGeom>
          <a:solidFill>
            <a:srgbClr val="314146"/>
          </a:solidFill>
          <a:ln w="12700">
            <a:solidFill>
              <a:srgbClr val="61DAF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006840" y="3703320"/>
            <a:ext cx="914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EF5F6"/>
                </a:solidFill>
              </a:rPr>
              <a:t>2024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9006840" y="4956048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EACAF"/>
                </a:solidFill>
              </a:rPr>
              <a:t>React 19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11109960" y="4517136"/>
            <a:ext cx="256032" cy="256032"/>
          </a:xfrm>
          <a:prstGeom prst="ellipse">
            <a:avLst/>
          </a:prstGeom>
          <a:solidFill>
            <a:srgbClr val="61DAFB"/>
          </a:solidFill>
          <a:ln w="12700">
            <a:solidFill>
              <a:srgbClr val="61DAF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064240" y="3703320"/>
            <a:ext cx="914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1DAFB"/>
                </a:solidFill>
              </a:rPr>
              <a:t>2026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1064240" y="4956048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EACAF"/>
                </a:solidFill>
              </a:rPr>
              <a:t>Foundation + 19.3</a:t>
            </a:r>
            <a:endParaRPr lang="en-US" sz="1050" dirty="0"/>
          </a:p>
        </p:txBody>
      </p:sp>
      <p:sp>
        <p:nvSpPr>
          <p:cNvPr id="24" name="Text 22">
            <a:hlinkClick r:id="rId1" tooltip=""/>
          </p:cNvPr>
          <p:cNvSpPr/>
          <p:nvPr/>
        </p:nvSpPr>
        <p:spPr>
          <a:xfrm>
            <a:off x="603504" y="6510528"/>
            <a:ext cx="9875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u="sng" dirty="0">
                <a:solidFill>
                  <a:srgbClr val="718084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https://react.dev/versions · https://react.dev/blog/2026/02/24/the-react-foundation · https://react.dev/blog/2026/09/09/react-19-3</a:t>
            </a:r>
            <a:endParaRPr lang="en-US" sz="74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37392" y="13716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D8B8F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" y="713232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spc="160" kern="0" dirty="0">
                <a:solidFill>
                  <a:srgbClr val="61DA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 · DECISÃO</a:t>
            </a:r>
            <a:endParaRPr lang="en-US" sz="920" dirty="0"/>
          </a:p>
        </p:txBody>
      </p:sp>
      <p:sp>
        <p:nvSpPr>
          <p:cNvPr id="3" name="Text 1"/>
          <p:cNvSpPr/>
          <p:nvPr/>
        </p:nvSpPr>
        <p:spPr>
          <a:xfrm>
            <a:off x="621792" y="1069848"/>
            <a:ext cx="658368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EF5F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React faz sentido quando a interface muda muito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2395728"/>
            <a:ext cx="6080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9EACA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Complexidade de estado e reutilização justificam a biblioteca.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685800" y="32461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1DAFB"/>
                </a:solidFill>
              </a:rPr>
              <a:t>USE REACT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13232" y="3703320"/>
            <a:ext cx="4480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203200" indent="-203200">
              <a:buSzPct val="100000"/>
              <a:buChar char="•"/>
            </a:pPr>
            <a:r>
              <a:rPr lang="en-US" sz="1400" dirty="0">
                <a:solidFill>
                  <a:srgbClr val="EEF5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SPAs e painéis</a:t>
            </a:r>
            <a:endParaRPr lang="en-US" sz="1400" dirty="0"/>
          </a:p>
          <a:p>
            <a:pPr marL="203200" indent="-203200">
              <a:buSzPct val="100000"/>
              <a:buChar char="•"/>
            </a:pPr>
            <a:r>
              <a:rPr lang="en-US" sz="1400" dirty="0">
                <a:solidFill>
                  <a:srgbClr val="EEF5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Design systems</a:t>
            </a:r>
            <a:endParaRPr lang="en-US" sz="1400" dirty="0"/>
          </a:p>
          <a:p>
            <a:pPr marL="203200" indent="-203200">
              <a:buSzPct val="100000"/>
              <a:buChar char="•"/>
            </a:pPr>
            <a:r>
              <a:rPr lang="en-US" sz="1400" dirty="0">
                <a:solidFill>
                  <a:srgbClr val="EEF5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Fluxos interativos</a:t>
            </a:r>
            <a:endParaRPr lang="en-US" sz="1400" dirty="0"/>
          </a:p>
          <a:p>
            <a:pPr marL="203200" indent="-203200">
              <a:buSzPct val="100000"/>
              <a:buChar char="•"/>
            </a:pPr>
            <a:r>
              <a:rPr lang="en-US" sz="1400" dirty="0">
                <a:solidFill>
                  <a:srgbClr val="EEF5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Adoção gradual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989320" y="3218688"/>
            <a:ext cx="0" cy="2176272"/>
          </a:xfrm>
          <a:prstGeom prst="line">
            <a:avLst/>
          </a:prstGeom>
          <a:noFill/>
          <a:ln w="13970">
            <a:solidFill>
              <a:srgbClr val="34424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37960" y="32461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C56B"/>
                </a:solidFill>
              </a:rPr>
              <a:t>CONSIDERE OUTRA OPÇÃO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65392" y="3703320"/>
            <a:ext cx="47548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203200" indent="-203200">
              <a:buSzPct val="100000"/>
              <a:buChar char="•"/>
            </a:pPr>
            <a:r>
              <a:rPr lang="en-US" sz="1400" dirty="0">
                <a:solidFill>
                  <a:srgbClr val="EEF5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HTML/CSS em páginas simples</a:t>
            </a:r>
            <a:endParaRPr lang="en-US" sz="1400" dirty="0"/>
          </a:p>
          <a:p>
            <a:pPr marL="203200" indent="-203200">
              <a:buSzPct val="100000"/>
              <a:buChar char="•"/>
            </a:pPr>
            <a:r>
              <a:rPr lang="en-US" sz="1400" dirty="0">
                <a:solidFill>
                  <a:srgbClr val="EEF5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Framework React no full stack</a:t>
            </a:r>
            <a:endParaRPr lang="en-US" sz="1400" dirty="0"/>
          </a:p>
          <a:p>
            <a:pPr marL="203200" indent="-203200">
              <a:buSzPct val="100000"/>
              <a:buChar char="•"/>
            </a:pPr>
            <a:r>
              <a:rPr lang="en-US" sz="1400" dirty="0">
                <a:solidFill>
                  <a:srgbClr val="EEF5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React Native no mobile</a:t>
            </a:r>
            <a:endParaRPr lang="en-US" sz="1400" dirty="0"/>
          </a:p>
          <a:p>
            <a:pPr marL="203200" indent="-203200">
              <a:buSzPct val="100000"/>
              <a:buChar char="•"/>
            </a:pPr>
            <a:r>
              <a:rPr lang="en-US" sz="1400" dirty="0">
                <a:solidFill>
                  <a:srgbClr val="EEF5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Solução mais opinativa</a:t>
            </a:r>
            <a:endParaRPr lang="en-US" sz="1400" dirty="0"/>
          </a:p>
        </p:txBody>
      </p:sp>
      <p:sp>
        <p:nvSpPr>
          <p:cNvPr id="10" name="Text 8">
            <a:hlinkClick r:id="rId1" tooltip=""/>
          </p:cNvPr>
          <p:cNvSpPr/>
          <p:nvPr/>
        </p:nvSpPr>
        <p:spPr>
          <a:xfrm>
            <a:off x="603504" y="6510528"/>
            <a:ext cx="9875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u="sng" dirty="0">
                <a:solidFill>
                  <a:srgbClr val="718084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https://react.dev/learn/creating-a-react-app</a:t>
            </a:r>
            <a:endParaRPr lang="en-US" sz="74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37392" y="13716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D8B8F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" y="713232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spc="160" kern="0" dirty="0">
                <a:solidFill>
                  <a:srgbClr val="61DA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 · ARQUITETURA</a:t>
            </a:r>
            <a:endParaRPr lang="en-US" sz="920" dirty="0"/>
          </a:p>
        </p:txBody>
      </p:sp>
      <p:sp>
        <p:nvSpPr>
          <p:cNvPr id="3" name="Text 1"/>
          <p:cNvSpPr/>
          <p:nvPr/>
        </p:nvSpPr>
        <p:spPr>
          <a:xfrm>
            <a:off x="621792" y="1069848"/>
            <a:ext cx="658368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EF5F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Estado entra. Interface reage.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2395728"/>
            <a:ext cx="6080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9EACA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Eventos atualizam o estado; React reconcilia a árvore e confirma mudanças no DOM.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658368" y="3703320"/>
            <a:ext cx="1691640" cy="713232"/>
          </a:xfrm>
          <a:prstGeom prst="rect">
            <a:avLst/>
          </a:prstGeom>
          <a:solidFill>
            <a:srgbClr val="172326"/>
          </a:solidFill>
          <a:ln w="13970">
            <a:solidFill>
              <a:srgbClr val="3442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3931920"/>
            <a:ext cx="1472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EF5F6"/>
                </a:solidFill>
              </a:rPr>
              <a:t>INTERAÇÃO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414016" y="3886200"/>
            <a:ext cx="384048" cy="347472"/>
          </a:xfrm>
          <a:prstGeom prst="chevron">
            <a:avLst/>
          </a:prstGeom>
          <a:solidFill>
            <a:srgbClr val="61DAFB"/>
          </a:solidFill>
          <a:ln w="12700">
            <a:solidFill>
              <a:srgbClr val="61DAF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944368" y="3703320"/>
            <a:ext cx="1691640" cy="713232"/>
          </a:xfrm>
          <a:prstGeom prst="rect">
            <a:avLst/>
          </a:prstGeom>
          <a:solidFill>
            <a:srgbClr val="172326"/>
          </a:solidFill>
          <a:ln w="13970">
            <a:solidFill>
              <a:srgbClr val="34424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054096" y="3931920"/>
            <a:ext cx="1472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EF5F6"/>
                </a:solidFill>
              </a:rPr>
              <a:t>EVENTO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700016" y="3886200"/>
            <a:ext cx="384048" cy="347472"/>
          </a:xfrm>
          <a:prstGeom prst="chevron">
            <a:avLst/>
          </a:prstGeom>
          <a:solidFill>
            <a:srgbClr val="61DAFB"/>
          </a:solidFill>
          <a:ln w="12700">
            <a:solidFill>
              <a:srgbClr val="61DAF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230368" y="3703320"/>
            <a:ext cx="1691640" cy="713232"/>
          </a:xfrm>
          <a:prstGeom prst="rect">
            <a:avLst/>
          </a:prstGeom>
          <a:solidFill>
            <a:srgbClr val="123D46"/>
          </a:solidFill>
          <a:ln w="13970">
            <a:solidFill>
              <a:srgbClr val="61DAF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340096" y="3931920"/>
            <a:ext cx="1472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1DAFB"/>
                </a:solidFill>
              </a:rPr>
              <a:t>ESTADO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986016" y="3886200"/>
            <a:ext cx="384048" cy="347472"/>
          </a:xfrm>
          <a:prstGeom prst="chevron">
            <a:avLst/>
          </a:prstGeom>
          <a:solidFill>
            <a:srgbClr val="61DAFB"/>
          </a:solidFill>
          <a:ln w="12700">
            <a:solidFill>
              <a:srgbClr val="61DAF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516368" y="3703320"/>
            <a:ext cx="1691640" cy="713232"/>
          </a:xfrm>
          <a:prstGeom prst="rect">
            <a:avLst/>
          </a:prstGeom>
          <a:solidFill>
            <a:srgbClr val="172326"/>
          </a:solidFill>
          <a:ln w="13970">
            <a:solidFill>
              <a:srgbClr val="34424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626096" y="3931920"/>
            <a:ext cx="1472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EF5F6"/>
                </a:solidFill>
              </a:rPr>
              <a:t>ÁRVORE REACT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9272016" y="3886200"/>
            <a:ext cx="384048" cy="347472"/>
          </a:xfrm>
          <a:prstGeom prst="chevron">
            <a:avLst/>
          </a:prstGeom>
          <a:solidFill>
            <a:srgbClr val="61DAFB"/>
          </a:solidFill>
          <a:ln w="12700">
            <a:solidFill>
              <a:srgbClr val="61DAF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802368" y="3703320"/>
            <a:ext cx="1691640" cy="713232"/>
          </a:xfrm>
          <a:prstGeom prst="rect">
            <a:avLst/>
          </a:prstGeom>
          <a:solidFill>
            <a:srgbClr val="172326"/>
          </a:solidFill>
          <a:ln w="13970">
            <a:solidFill>
              <a:srgbClr val="34424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912096" y="3931920"/>
            <a:ext cx="1472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EF5F6"/>
                </a:solidFill>
              </a:rPr>
              <a:t>DOM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22960" y="5074920"/>
            <a:ext cx="1417320" cy="365760"/>
          </a:xfrm>
          <a:prstGeom prst="rect">
            <a:avLst/>
          </a:prstGeom>
          <a:solidFill>
            <a:srgbClr val="182427"/>
          </a:solidFill>
          <a:ln w="7620">
            <a:solidFill>
              <a:srgbClr val="34424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2688" y="5166360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1DAFB"/>
                </a:solidFill>
              </a:rPr>
              <a:t>JSX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606040" y="5074920"/>
            <a:ext cx="1417320" cy="365760"/>
          </a:xfrm>
          <a:prstGeom prst="rect">
            <a:avLst/>
          </a:prstGeom>
          <a:solidFill>
            <a:srgbClr val="182427"/>
          </a:solidFill>
          <a:ln w="7620">
            <a:solidFill>
              <a:srgbClr val="34424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715768" y="5166360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1DAFB"/>
                </a:solidFill>
              </a:rPr>
              <a:t>props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389120" y="5074920"/>
            <a:ext cx="1417320" cy="365760"/>
          </a:xfrm>
          <a:prstGeom prst="rect">
            <a:avLst/>
          </a:prstGeom>
          <a:solidFill>
            <a:srgbClr val="182427"/>
          </a:solidFill>
          <a:ln w="7620">
            <a:solidFill>
              <a:srgbClr val="34424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498848" y="5166360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1DAFB"/>
                </a:solidFill>
              </a:rPr>
              <a:t>state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172200" y="5074920"/>
            <a:ext cx="1417320" cy="365760"/>
          </a:xfrm>
          <a:prstGeom prst="rect">
            <a:avLst/>
          </a:prstGeom>
          <a:solidFill>
            <a:srgbClr val="182427"/>
          </a:solidFill>
          <a:ln w="7620">
            <a:solidFill>
              <a:srgbClr val="34424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81928" y="5166360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1DAFB"/>
                </a:solidFill>
              </a:rPr>
              <a:t>hooks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7955280" y="5074920"/>
            <a:ext cx="1417320" cy="365760"/>
          </a:xfrm>
          <a:prstGeom prst="rect">
            <a:avLst/>
          </a:prstGeom>
          <a:solidFill>
            <a:srgbClr val="182427"/>
          </a:solidFill>
          <a:ln w="7620">
            <a:solidFill>
              <a:srgbClr val="34424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065008" y="5166360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1DAFB"/>
                </a:solidFill>
              </a:rPr>
              <a:t>context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9738360" y="5074920"/>
            <a:ext cx="1417320" cy="365760"/>
          </a:xfrm>
          <a:prstGeom prst="rect">
            <a:avLst/>
          </a:prstGeom>
          <a:solidFill>
            <a:srgbClr val="182427"/>
          </a:solidFill>
          <a:ln w="7620">
            <a:solidFill>
              <a:srgbClr val="34424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848088" y="5166360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1DAFB"/>
                </a:solidFill>
              </a:rPr>
              <a:t>React DOM</a:t>
            </a:r>
            <a:endParaRPr lang="en-US" sz="950" dirty="0"/>
          </a:p>
        </p:txBody>
      </p:sp>
      <p:sp>
        <p:nvSpPr>
          <p:cNvPr id="31" name="Text 29">
            <a:hlinkClick r:id="rId1" tooltip=""/>
          </p:cNvPr>
          <p:cNvSpPr/>
          <p:nvPr/>
        </p:nvSpPr>
        <p:spPr>
          <a:xfrm>
            <a:off x="603504" y="6510528"/>
            <a:ext cx="9875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u="sng" dirty="0">
                <a:solidFill>
                  <a:srgbClr val="718084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https://react.dev/learn · https://react.dev/learn/render-and-commit</a:t>
            </a:r>
            <a:endParaRPr lang="en-US" sz="74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37392" y="13716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D8B8F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" y="713232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spc="160" kern="0" dirty="0">
                <a:solidFill>
                  <a:srgbClr val="61DA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 · PRÉ-REQUISITOS</a:t>
            </a:r>
            <a:endParaRPr lang="en-US" sz="920" dirty="0"/>
          </a:p>
        </p:txBody>
      </p:sp>
      <p:sp>
        <p:nvSpPr>
          <p:cNvPr id="3" name="Text 1"/>
          <p:cNvSpPr/>
          <p:nvPr/>
        </p:nvSpPr>
        <p:spPr>
          <a:xfrm>
            <a:off x="621792" y="1069848"/>
            <a:ext cx="658368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EF5F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React amplia uma base Web sólida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2395728"/>
            <a:ext cx="6080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9EACA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JSX não substitui HTML, CSS ou JavaScript: ele os conecta.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713232" y="324612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1DA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261872" y="3227832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EF5F6"/>
                </a:solidFill>
              </a:rPr>
              <a:t>HTML semântico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13232" y="3703320"/>
            <a:ext cx="4480560" cy="0"/>
          </a:xfrm>
          <a:prstGeom prst="line">
            <a:avLst/>
          </a:prstGeom>
          <a:noFill/>
          <a:ln w="8890">
            <a:solidFill>
              <a:srgbClr val="34424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39959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1DA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261872" y="3977640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EF5F6"/>
                </a:solidFill>
              </a:rPr>
              <a:t>CSS responsivo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13232" y="4453128"/>
            <a:ext cx="4480560" cy="0"/>
          </a:xfrm>
          <a:prstGeom prst="line">
            <a:avLst/>
          </a:prstGeom>
          <a:noFill/>
          <a:ln w="8890">
            <a:solidFill>
              <a:srgbClr val="34424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" y="4745736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1DA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261872" y="472744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EF5F6"/>
                </a:solidFill>
              </a:rPr>
              <a:t>JavaScript moderno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13232" y="5202936"/>
            <a:ext cx="4480560" cy="0"/>
          </a:xfrm>
          <a:prstGeom prst="line">
            <a:avLst/>
          </a:prstGeom>
          <a:noFill/>
          <a:ln w="8890">
            <a:solidFill>
              <a:srgbClr val="34424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72200" y="324612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1DA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720840" y="3227832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EF5F6"/>
                </a:solidFill>
              </a:rPr>
              <a:t>Node.js + npm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172200" y="3703320"/>
            <a:ext cx="4480560" cy="0"/>
          </a:xfrm>
          <a:prstGeom prst="line">
            <a:avLst/>
          </a:prstGeom>
          <a:noFill/>
          <a:ln w="8890">
            <a:solidFill>
              <a:srgbClr val="34424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72200" y="39959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1DA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720840" y="3977640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EF5F6"/>
                </a:solidFill>
              </a:rPr>
              <a:t>HTTP + APIs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172200" y="4453128"/>
            <a:ext cx="4480560" cy="0"/>
          </a:xfrm>
          <a:prstGeom prst="line">
            <a:avLst/>
          </a:prstGeom>
          <a:noFill/>
          <a:ln w="8890">
            <a:solidFill>
              <a:srgbClr val="34424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72200" y="4745736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1DA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720840" y="472744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EF5F6"/>
                </a:solidFill>
              </a:rPr>
              <a:t>TypeScript + Git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6172200" y="5202936"/>
            <a:ext cx="4480560" cy="0"/>
          </a:xfrm>
          <a:prstGeom prst="line">
            <a:avLst/>
          </a:prstGeom>
          <a:noFill/>
          <a:ln w="8890">
            <a:solidFill>
              <a:srgbClr val="344247"/>
            </a:solidFill>
            <a:prstDash val="solid"/>
          </a:ln>
        </p:spPr>
      </p:sp>
      <p:sp>
        <p:nvSpPr>
          <p:cNvPr id="23" name="Text 21">
            <a:hlinkClick r:id="rId1" tooltip=""/>
          </p:cNvPr>
          <p:cNvSpPr/>
          <p:nvPr/>
        </p:nvSpPr>
        <p:spPr>
          <a:xfrm>
            <a:off x="603504" y="6510528"/>
            <a:ext cx="9875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u="sng" dirty="0">
                <a:solidFill>
                  <a:srgbClr val="718084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https://react.dev/learn/describing-the-ui</a:t>
            </a:r>
            <a:endParaRPr lang="en-US" sz="74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37392" y="13716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D8B8F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" y="713232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spc="160" kern="0" dirty="0">
                <a:solidFill>
                  <a:srgbClr val="10798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 · INSTALAÇÃO</a:t>
            </a:r>
            <a:endParaRPr lang="en-US" sz="920" dirty="0"/>
          </a:p>
        </p:txBody>
      </p:sp>
      <p:sp>
        <p:nvSpPr>
          <p:cNvPr id="3" name="Text 1"/>
          <p:cNvSpPr/>
          <p:nvPr/>
        </p:nvSpPr>
        <p:spPr>
          <a:xfrm>
            <a:off x="621792" y="1069848"/>
            <a:ext cx="658368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11171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Primeiro projeto com Vite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2395728"/>
            <a:ext cx="6080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6571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Ferramenta atual, rápida e adequada a uma aplicação client-side.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685800" y="3154680"/>
            <a:ext cx="6492240" cy="2121408"/>
          </a:xfrm>
          <a:prstGeom prst="rect">
            <a:avLst/>
          </a:prstGeom>
          <a:solidFill>
            <a:srgbClr val="0A1012"/>
          </a:solidFill>
          <a:ln w="10160">
            <a:solidFill>
              <a:srgbClr val="36484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23544" y="3355848"/>
            <a:ext cx="6016752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30" dirty="0">
                <a:solidFill>
                  <a:srgbClr val="B9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create vite@latest react-seminario -- --template react-ts</a:t>
            </a:r>
            <a:endParaRPr lang="en-US" sz="1230" dirty="0"/>
          </a:p>
          <a:p>
            <a:pPr indent="0" marL="0">
              <a:buNone/>
            </a:pPr>
            <a:r>
              <a:rPr lang="en-US" sz="1230" dirty="0">
                <a:solidFill>
                  <a:srgbClr val="B9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react-seminario</a:t>
            </a:r>
            <a:endParaRPr lang="en-US" sz="1230" dirty="0"/>
          </a:p>
          <a:p>
            <a:pPr indent="0" marL="0">
              <a:buNone/>
            </a:pPr>
            <a:r>
              <a:rPr lang="en-US" sz="1230" dirty="0">
                <a:solidFill>
                  <a:srgbClr val="B9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install</a:t>
            </a:r>
            <a:endParaRPr lang="en-US" sz="1230" dirty="0"/>
          </a:p>
          <a:p>
            <a:pPr indent="0" marL="0">
              <a:buNone/>
            </a:pPr>
            <a:r>
              <a:rPr lang="en-US" sz="1230" dirty="0">
                <a:solidFill>
                  <a:srgbClr val="B9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install react-router-dom</a:t>
            </a:r>
            <a:endParaRPr lang="en-US" sz="1230" dirty="0"/>
          </a:p>
          <a:p>
            <a:pPr indent="0" marL="0">
              <a:buNone/>
            </a:pPr>
            <a:r>
              <a:rPr lang="en-US" sz="1230" dirty="0">
                <a:solidFill>
                  <a:srgbClr val="B9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dev</a:t>
            </a:r>
            <a:endParaRPr lang="en-US" sz="1230" dirty="0"/>
          </a:p>
        </p:txBody>
      </p:sp>
      <p:sp>
        <p:nvSpPr>
          <p:cNvPr id="7" name="Text 5"/>
          <p:cNvSpPr/>
          <p:nvPr/>
        </p:nvSpPr>
        <p:spPr>
          <a:xfrm>
            <a:off x="7726680" y="3200400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0798E"/>
                </a:solidFill>
              </a:rPr>
              <a:t>VERSÕES VERIFICADAS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726680" y="3675888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96C"/>
                </a:solidFill>
              </a:rPr>
              <a:t>React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784080" y="3675888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71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19.3.0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726680" y="4087368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96C"/>
                </a:solidFill>
              </a:rPr>
              <a:t>Vite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784080" y="4087368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71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8.3.0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726680" y="4498848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96C"/>
                </a:solidFill>
              </a:rPr>
              <a:t>Router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784080" y="4498848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71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7.18.4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726680" y="4910328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96C"/>
                </a:solidFill>
              </a:rPr>
              <a:t>Node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784080" y="4910328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71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20.19+</a:t>
            </a:r>
            <a:endParaRPr lang="en-US" sz="1200" dirty="0"/>
          </a:p>
        </p:txBody>
      </p:sp>
      <p:sp>
        <p:nvSpPr>
          <p:cNvPr id="16" name="Text 14">
            <a:hlinkClick r:id="rId1" tooltip=""/>
          </p:cNvPr>
          <p:cNvSpPr/>
          <p:nvPr/>
        </p:nvSpPr>
        <p:spPr>
          <a:xfrm>
            <a:off x="603504" y="6510528"/>
            <a:ext cx="9875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u="sng" dirty="0">
                <a:solidFill>
                  <a:srgbClr val="6C797C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https://vite.dev/guide · https://react.dev/learn/build-a-react-app-from-scratch</a:t>
            </a:r>
            <a:endParaRPr lang="en-US" sz="74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37392" y="13716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1808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" y="713232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spc="160" kern="0" dirty="0">
                <a:solidFill>
                  <a:srgbClr val="10798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 · ESTRUTURA</a:t>
            </a:r>
            <a:endParaRPr lang="en-US" sz="920" dirty="0"/>
          </a:p>
        </p:txBody>
      </p:sp>
      <p:sp>
        <p:nvSpPr>
          <p:cNvPr id="3" name="Text 1"/>
          <p:cNvSpPr/>
          <p:nvPr/>
        </p:nvSpPr>
        <p:spPr>
          <a:xfrm>
            <a:off x="621792" y="1069848"/>
            <a:ext cx="658368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11171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Responsabilidades fáceis de localizar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2395728"/>
            <a:ext cx="6080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6571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Entrada, rotas, páginas, estado e componentes permanecem separados.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685800" y="3063240"/>
            <a:ext cx="5715000" cy="2514600"/>
          </a:xfrm>
          <a:prstGeom prst="rect">
            <a:avLst/>
          </a:prstGeom>
          <a:solidFill>
            <a:srgbClr val="0A1012"/>
          </a:solidFill>
          <a:ln w="10160">
            <a:solidFill>
              <a:srgbClr val="36484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23544" y="3264408"/>
            <a:ext cx="5239512" cy="21122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30" dirty="0">
                <a:solidFill>
                  <a:srgbClr val="B9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</a:t>
            </a:r>
            <a:endParaRPr lang="en-US" sz="1230" dirty="0"/>
          </a:p>
          <a:p>
            <a:pPr indent="0" marL="0">
              <a:buNone/>
            </a:pPr>
            <a:r>
              <a:rPr lang="en-US" sz="1230" dirty="0">
                <a:solidFill>
                  <a:srgbClr val="B9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 components/    peças reutilizáveis</a:t>
            </a:r>
            <a:endParaRPr lang="en-US" sz="1230" dirty="0"/>
          </a:p>
          <a:p>
            <a:pPr indent="0" marL="0">
              <a:buNone/>
            </a:pPr>
            <a:r>
              <a:rPr lang="en-US" sz="1230" dirty="0">
                <a:solidFill>
                  <a:srgbClr val="B9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 context/       estado e persistência</a:t>
            </a:r>
            <a:endParaRPr lang="en-US" sz="1230" dirty="0"/>
          </a:p>
          <a:p>
            <a:pPr indent="0" marL="0">
              <a:buNone/>
            </a:pPr>
            <a:r>
              <a:rPr lang="en-US" sz="1230" dirty="0">
                <a:solidFill>
                  <a:srgbClr val="B9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 data/          conteúdo e fontes</a:t>
            </a:r>
            <a:endParaRPr lang="en-US" sz="1230" dirty="0"/>
          </a:p>
          <a:p>
            <a:pPr indent="0" marL="0">
              <a:buNone/>
            </a:pPr>
            <a:r>
              <a:rPr lang="en-US" sz="1230" dirty="0">
                <a:solidFill>
                  <a:srgbClr val="B9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 pages/         quatro rotas</a:t>
            </a:r>
            <a:endParaRPr lang="en-US" sz="1230" dirty="0"/>
          </a:p>
          <a:p>
            <a:pPr indent="0" marL="0">
              <a:buNone/>
            </a:pPr>
            <a:r>
              <a:rPr lang="en-US" sz="1230" dirty="0">
                <a:solidFill>
                  <a:srgbClr val="B9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 App.tsx        layout + rotas</a:t>
            </a:r>
            <a:endParaRPr lang="en-US" sz="1230" dirty="0"/>
          </a:p>
          <a:p>
            <a:pPr indent="0" marL="0">
              <a:buNone/>
            </a:pPr>
            <a:r>
              <a:rPr lang="en-US" sz="1230" dirty="0">
                <a:solidFill>
                  <a:srgbClr val="B9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 main.tsx       raiz React</a:t>
            </a:r>
            <a:endParaRPr lang="en-US" sz="1230" dirty="0"/>
          </a:p>
        </p:txBody>
      </p:sp>
      <p:sp>
        <p:nvSpPr>
          <p:cNvPr id="7" name="Shape 5"/>
          <p:cNvSpPr/>
          <p:nvPr/>
        </p:nvSpPr>
        <p:spPr>
          <a:xfrm>
            <a:off x="7132320" y="3154680"/>
            <a:ext cx="3977640" cy="502920"/>
          </a:xfrm>
          <a:prstGeom prst="rect">
            <a:avLst/>
          </a:prstGeom>
          <a:solidFill>
            <a:srgbClr val="E8E7E0"/>
          </a:solidFill>
          <a:ln w="12700">
            <a:solidFill>
              <a:srgbClr val="CAD1C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0" y="3328416"/>
            <a:ext cx="3520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111719"/>
                </a:solidFill>
              </a:rPr>
              <a:t>main.tsx  ·  cria a raiz</a:t>
            </a:r>
            <a:endParaRPr lang="en-US" sz="1030" dirty="0"/>
          </a:p>
        </p:txBody>
      </p:sp>
      <p:sp>
        <p:nvSpPr>
          <p:cNvPr id="9" name="Shape 7"/>
          <p:cNvSpPr/>
          <p:nvPr/>
        </p:nvSpPr>
        <p:spPr>
          <a:xfrm>
            <a:off x="7680960" y="3584448"/>
            <a:ext cx="3429000" cy="502920"/>
          </a:xfrm>
          <a:prstGeom prst="rect">
            <a:avLst/>
          </a:prstGeom>
          <a:solidFill>
            <a:srgbClr val="D9E0DC"/>
          </a:solidFill>
          <a:ln w="12700">
            <a:solidFill>
              <a:srgbClr val="CAD1C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863840" y="3758184"/>
            <a:ext cx="2971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111719"/>
                </a:solidFill>
              </a:rPr>
              <a:t>App.tsx  ·  organiza rotas</a:t>
            </a:r>
            <a:endParaRPr lang="en-US" sz="1030" dirty="0"/>
          </a:p>
        </p:txBody>
      </p:sp>
      <p:sp>
        <p:nvSpPr>
          <p:cNvPr id="11" name="Shape 9"/>
          <p:cNvSpPr/>
          <p:nvPr/>
        </p:nvSpPr>
        <p:spPr>
          <a:xfrm>
            <a:off x="8229600" y="4014216"/>
            <a:ext cx="2880360" cy="502920"/>
          </a:xfrm>
          <a:prstGeom prst="rect">
            <a:avLst/>
          </a:prstGeom>
          <a:solidFill>
            <a:srgbClr val="E8E7E0"/>
          </a:solidFill>
          <a:ln w="12700">
            <a:solidFill>
              <a:srgbClr val="CAD1C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0" y="4187952"/>
            <a:ext cx="2423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111719"/>
                </a:solidFill>
              </a:rPr>
              <a:t>pages  ·  compõem telas</a:t>
            </a:r>
            <a:endParaRPr lang="en-US" sz="1030" dirty="0"/>
          </a:p>
        </p:txBody>
      </p:sp>
      <p:sp>
        <p:nvSpPr>
          <p:cNvPr id="13" name="Shape 11"/>
          <p:cNvSpPr/>
          <p:nvPr/>
        </p:nvSpPr>
        <p:spPr>
          <a:xfrm>
            <a:off x="8778240" y="4443984"/>
            <a:ext cx="2331720" cy="502920"/>
          </a:xfrm>
          <a:prstGeom prst="rect">
            <a:avLst/>
          </a:prstGeom>
          <a:solidFill>
            <a:srgbClr val="D9E0DC"/>
          </a:solidFill>
          <a:ln w="12700">
            <a:solidFill>
              <a:srgbClr val="CAD1C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961120" y="4617720"/>
            <a:ext cx="1874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111719"/>
                </a:solidFill>
              </a:rPr>
              <a:t>components  ·  reutilizam UI</a:t>
            </a:r>
            <a:endParaRPr lang="en-US" sz="1030" dirty="0"/>
          </a:p>
        </p:txBody>
      </p:sp>
      <p:sp>
        <p:nvSpPr>
          <p:cNvPr id="15" name="Shape 13"/>
          <p:cNvSpPr/>
          <p:nvPr/>
        </p:nvSpPr>
        <p:spPr>
          <a:xfrm>
            <a:off x="9326880" y="4873752"/>
            <a:ext cx="1783080" cy="502920"/>
          </a:xfrm>
          <a:prstGeom prst="rect">
            <a:avLst/>
          </a:prstGeom>
          <a:solidFill>
            <a:srgbClr val="E8E7E0"/>
          </a:solidFill>
          <a:ln w="12700">
            <a:solidFill>
              <a:srgbClr val="CAD1C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09760" y="5047488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111719"/>
                </a:solidFill>
              </a:rPr>
              <a:t>context  ·  coordena estado</a:t>
            </a:r>
            <a:endParaRPr lang="en-US" sz="1030" dirty="0"/>
          </a:p>
        </p:txBody>
      </p:sp>
      <p:sp>
        <p:nvSpPr>
          <p:cNvPr id="17" name="Text 15"/>
          <p:cNvSpPr/>
          <p:nvPr/>
        </p:nvSpPr>
        <p:spPr>
          <a:xfrm>
            <a:off x="603504" y="6510528"/>
            <a:ext cx="9875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6C79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Estrutura real do repositório seminario-react-2ads</a:t>
            </a:r>
            <a:endParaRPr lang="en-US" sz="74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37392" y="13716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1808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" y="713232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spc="160" kern="0" dirty="0">
                <a:solidFill>
                  <a:srgbClr val="10798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 · RECURSOS</a:t>
            </a:r>
            <a:endParaRPr lang="en-US" sz="920" dirty="0"/>
          </a:p>
        </p:txBody>
      </p:sp>
      <p:sp>
        <p:nvSpPr>
          <p:cNvPr id="3" name="Text 1"/>
          <p:cNvSpPr/>
          <p:nvPr/>
        </p:nvSpPr>
        <p:spPr>
          <a:xfrm>
            <a:off x="621792" y="1069848"/>
            <a:ext cx="658368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11171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Componentes pequenos, estado previsível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2395728"/>
            <a:ext cx="6080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6571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Props levam dados; eventos disparam ações; effects sincronizam sistemas externos.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685800" y="3063240"/>
            <a:ext cx="6080760" cy="2578608"/>
          </a:xfrm>
          <a:prstGeom prst="rect">
            <a:avLst/>
          </a:prstGeom>
          <a:solidFill>
            <a:srgbClr val="0A1012"/>
          </a:solidFill>
          <a:ln w="10160">
            <a:solidFill>
              <a:srgbClr val="36484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23544" y="3264408"/>
            <a:ext cx="5605272" cy="21762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30" dirty="0">
                <a:solidFill>
                  <a:srgbClr val="B9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[tasks, dispatch] = useReducer(</a:t>
            </a:r>
            <a:endParaRPr lang="en-US" sz="1230" dirty="0"/>
          </a:p>
          <a:p>
            <a:pPr indent="0" marL="0">
              <a:buNone/>
            </a:pPr>
            <a:r>
              <a:rPr lang="en-US" sz="1230" dirty="0">
                <a:solidFill>
                  <a:srgbClr val="B9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tasksReducer, initialTasks</a:t>
            </a:r>
            <a:endParaRPr lang="en-US" sz="1230" dirty="0"/>
          </a:p>
          <a:p>
            <a:pPr indent="0" marL="0">
              <a:buNone/>
            </a:pPr>
            <a:r>
              <a:rPr lang="en-US" sz="1230" dirty="0">
                <a:solidFill>
                  <a:srgbClr val="B9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230" dirty="0"/>
          </a:p>
          <a:p>
            <a:pPr indent="0" marL="0">
              <a:buNone/>
            </a:pPr>
            <a:endParaRPr lang="en-US" sz="1230" dirty="0"/>
          </a:p>
          <a:p>
            <a:pPr indent="0" marL="0">
              <a:buNone/>
            </a:pPr>
            <a:r>
              <a:rPr lang="en-US" sz="1230" dirty="0">
                <a:solidFill>
                  <a:srgbClr val="B9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useEffect(() =&gt; {</a:t>
            </a:r>
            <a:endParaRPr lang="en-US" sz="1230" dirty="0"/>
          </a:p>
          <a:p>
            <a:pPr indent="0" marL="0">
              <a:buNone/>
            </a:pPr>
            <a:r>
              <a:rPr lang="en-US" sz="1230" dirty="0">
                <a:solidFill>
                  <a:srgbClr val="B9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localStorage.setItem("tasks", JSON.stringify(tasks));</a:t>
            </a:r>
            <a:endParaRPr lang="en-US" sz="1230" dirty="0"/>
          </a:p>
          <a:p>
            <a:pPr indent="0" marL="0">
              <a:buNone/>
            </a:pPr>
            <a:r>
              <a:rPr lang="en-US" sz="1230" dirty="0">
                <a:solidFill>
                  <a:srgbClr val="B9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}, [tasks]);</a:t>
            </a:r>
            <a:endParaRPr lang="en-US" sz="1230" dirty="0"/>
          </a:p>
        </p:txBody>
      </p:sp>
      <p:sp>
        <p:nvSpPr>
          <p:cNvPr id="7" name="Text 5"/>
          <p:cNvSpPr/>
          <p:nvPr/>
        </p:nvSpPr>
        <p:spPr>
          <a:xfrm>
            <a:off x="7406640" y="312724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798E"/>
                </a:solidFill>
              </a:rPr>
              <a:t>PROPS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732520" y="3127248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719"/>
                </a:solidFill>
              </a:rPr>
              <a:t>dados de entrada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406640" y="3739896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798E"/>
                </a:solidFill>
              </a:rPr>
              <a:t>REDUCER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732520" y="3739896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719"/>
                </a:solidFill>
              </a:rPr>
              <a:t>próximo estado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406640" y="4352544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798E"/>
                </a:solidFill>
              </a:rPr>
              <a:t>EFFECT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732520" y="4352544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719"/>
                </a:solidFill>
              </a:rPr>
              <a:t>persistência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406640" y="496519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798E"/>
                </a:solidFill>
              </a:rPr>
              <a:t>CONTEXT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732520" y="496519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719"/>
                </a:solidFill>
              </a:rPr>
              <a:t>compartilhamento</a:t>
            </a:r>
            <a:endParaRPr lang="en-US" sz="1300" dirty="0"/>
          </a:p>
        </p:txBody>
      </p:sp>
      <p:sp>
        <p:nvSpPr>
          <p:cNvPr id="15" name="Text 13">
            <a:hlinkClick r:id="rId1" tooltip=""/>
          </p:cNvPr>
          <p:cNvSpPr/>
          <p:nvPr/>
        </p:nvSpPr>
        <p:spPr>
          <a:xfrm>
            <a:off x="603504" y="6510528"/>
            <a:ext cx="9875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u="sng" dirty="0">
                <a:solidFill>
                  <a:srgbClr val="6C797C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https://react.dev/reference/react/hooks · Código do ReactLab</a:t>
            </a:r>
            <a:endParaRPr lang="en-US" sz="74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37392" y="13716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1808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" y="713232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spc="160" kern="0" dirty="0">
                <a:solidFill>
                  <a:srgbClr val="61DA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 · ANÁLISE</a:t>
            </a:r>
            <a:endParaRPr lang="en-US" sz="920" dirty="0"/>
          </a:p>
        </p:txBody>
      </p:sp>
      <p:sp>
        <p:nvSpPr>
          <p:cNvPr id="3" name="Text 1"/>
          <p:cNvSpPr/>
          <p:nvPr/>
        </p:nvSpPr>
        <p:spPr>
          <a:xfrm>
            <a:off x="621792" y="1069848"/>
            <a:ext cx="658368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EF5F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Produtividade com escolhas arquiteturais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2395728"/>
            <a:ext cx="6080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9EACA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React organiza interfaces complexas, mas não entrega uma arquitetura completa sozinho.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731520" y="320040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EACAF"/>
                </a:solidFill>
              </a:rPr>
              <a:t>DIMENSÃO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971800" y="32004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FB58B"/>
                </a:solidFill>
              </a:rPr>
              <a:t>FORÇA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452360" y="32004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C56B"/>
                </a:solidFill>
              </a:rPr>
              <a:t>LIMITE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31520" y="358444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EF5F6"/>
                </a:solidFill>
              </a:rPr>
              <a:t>Aprendizagem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971800" y="3584448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C5C7"/>
                </a:solidFill>
              </a:rPr>
              <a:t>modelo consistente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452360" y="3584448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C5C7"/>
                </a:solidFill>
              </a:rPr>
              <a:t>ecossistema amplo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31520" y="3877056"/>
            <a:ext cx="10561320" cy="0"/>
          </a:xfrm>
          <a:prstGeom prst="line">
            <a:avLst/>
          </a:prstGeom>
          <a:noFill/>
          <a:ln w="6350">
            <a:solidFill>
              <a:srgbClr val="34424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397764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EF5F6"/>
                </a:solidFill>
              </a:rPr>
              <a:t>Produtividade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971800" y="3977640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C5C7"/>
                </a:solidFill>
              </a:rPr>
              <a:t>reuso e composição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452360" y="3977640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C5C7"/>
                </a:solidFill>
              </a:rPr>
              <a:t>decisões externas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31520" y="4270248"/>
            <a:ext cx="10561320" cy="0"/>
          </a:xfrm>
          <a:prstGeom prst="line">
            <a:avLst/>
          </a:prstGeom>
          <a:noFill/>
          <a:ln w="6350">
            <a:solidFill>
              <a:srgbClr val="34424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437083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EF5F6"/>
                </a:solidFill>
              </a:rPr>
              <a:t>Manutenção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971800" y="4370832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C5C7"/>
                </a:solidFill>
              </a:rPr>
              <a:t>componentes isoláveis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452360" y="4370832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C5C7"/>
                </a:solidFill>
              </a:rPr>
              <a:t>estado exige disciplina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31520" y="4663440"/>
            <a:ext cx="10561320" cy="0"/>
          </a:xfrm>
          <a:prstGeom prst="line">
            <a:avLst/>
          </a:prstGeom>
          <a:noFill/>
          <a:ln w="6350">
            <a:solidFill>
              <a:srgbClr val="34424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4764024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EF5F6"/>
                </a:solidFill>
              </a:rPr>
              <a:t>Desempenho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2971800" y="4764024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C5C7"/>
                </a:solidFill>
              </a:rPr>
              <a:t>atualização declarativa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452360" y="4764024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C5C7"/>
                </a:solidFill>
              </a:rPr>
              <a:t>precisa ser medido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31520" y="5056632"/>
            <a:ext cx="10561320" cy="0"/>
          </a:xfrm>
          <a:prstGeom prst="line">
            <a:avLst/>
          </a:prstGeom>
          <a:noFill/>
          <a:ln w="6350">
            <a:solidFill>
              <a:srgbClr val="34424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1520" y="515721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EF5F6"/>
                </a:solidFill>
              </a:rPr>
              <a:t>Ecossistema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2971800" y="5157216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C5C7"/>
                </a:solidFill>
              </a:rPr>
              <a:t>muitas opções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452360" y="5157216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C5C7"/>
                </a:solidFill>
              </a:rPr>
              <a:t>mudança frequente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31520" y="5449824"/>
            <a:ext cx="10561320" cy="0"/>
          </a:xfrm>
          <a:prstGeom prst="line">
            <a:avLst/>
          </a:prstGeom>
          <a:noFill/>
          <a:ln w="6350">
            <a:solidFill>
              <a:srgbClr val="34424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31520" y="555040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EF5F6"/>
                </a:solidFill>
              </a:rPr>
              <a:t>Complexidade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2971800" y="5550408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C5C7"/>
                </a:solidFill>
              </a:rPr>
              <a:t>adoção gradual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452360" y="5550408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C5C7"/>
                </a:solidFill>
              </a:rPr>
              <a:t>não inclui backend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31520" y="5843016"/>
            <a:ext cx="10561320" cy="0"/>
          </a:xfrm>
          <a:prstGeom prst="line">
            <a:avLst/>
          </a:prstGeom>
          <a:noFill/>
          <a:ln w="6350">
            <a:solidFill>
              <a:srgbClr val="34424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3504" y="6510528"/>
            <a:ext cx="9875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71808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Síntese comparativa baseada na documentação oficial do React</a:t>
            </a:r>
            <a:endParaRPr lang="en-US" sz="74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37392" y="13716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D8B8F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" y="713232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spc="160" kern="0" dirty="0">
                <a:solidFill>
                  <a:srgbClr val="61DA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 · ADOÇÃO NO MERCADO</a:t>
            </a:r>
            <a:endParaRPr lang="en-US" sz="920" dirty="0"/>
          </a:p>
        </p:txBody>
      </p:sp>
      <p:sp>
        <p:nvSpPr>
          <p:cNvPr id="3" name="Text 1"/>
          <p:cNvSpPr/>
          <p:nvPr/>
        </p:nvSpPr>
        <p:spPr>
          <a:xfrm>
            <a:off x="621792" y="1069848"/>
            <a:ext cx="658368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EF5F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Um ecossistema em escala global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2395728"/>
            <a:ext cx="6080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9EACA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Meta relata uso em mais de 50 milhões de sites e produtos.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749808" y="3127248"/>
            <a:ext cx="3657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0" b="1" dirty="0">
                <a:solidFill>
                  <a:srgbClr val="61DA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50M+</a:t>
            </a:r>
            <a:endParaRPr lang="en-US" sz="6100" dirty="0"/>
          </a:p>
        </p:txBody>
      </p:sp>
      <p:sp>
        <p:nvSpPr>
          <p:cNvPr id="6" name="Text 4"/>
          <p:cNvSpPr/>
          <p:nvPr/>
        </p:nvSpPr>
        <p:spPr>
          <a:xfrm>
            <a:off x="804672" y="422452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EF5F6"/>
                </a:solidFill>
              </a:rPr>
              <a:t>sites e produtos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669280" y="3108960"/>
            <a:ext cx="2148840" cy="365760"/>
          </a:xfrm>
          <a:prstGeom prst="rect">
            <a:avLst/>
          </a:prstGeom>
          <a:solidFill>
            <a:srgbClr val="182427"/>
          </a:solidFill>
          <a:ln w="7620">
            <a:solidFill>
              <a:srgbClr val="34424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79008" y="3200400"/>
            <a:ext cx="19293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1DAFB"/>
                </a:solidFill>
              </a:rPr>
              <a:t>Facebook.com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8183880" y="3108960"/>
            <a:ext cx="2148840" cy="365760"/>
          </a:xfrm>
          <a:prstGeom prst="rect">
            <a:avLst/>
          </a:prstGeom>
          <a:solidFill>
            <a:srgbClr val="182427"/>
          </a:solidFill>
          <a:ln w="7620">
            <a:solidFill>
              <a:srgbClr val="34424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93608" y="3200400"/>
            <a:ext cx="19293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1DAFB"/>
                </a:solidFill>
              </a:rPr>
              <a:t>Microsoft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669280" y="3767328"/>
            <a:ext cx="2148840" cy="365760"/>
          </a:xfrm>
          <a:prstGeom prst="rect">
            <a:avLst/>
          </a:prstGeom>
          <a:solidFill>
            <a:srgbClr val="182427"/>
          </a:solidFill>
          <a:ln w="7620">
            <a:solidFill>
              <a:srgbClr val="34424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779008" y="3858768"/>
            <a:ext cx="19293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1DAFB"/>
                </a:solidFill>
              </a:rPr>
              <a:t>Shopify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183880" y="3767328"/>
            <a:ext cx="2148840" cy="365760"/>
          </a:xfrm>
          <a:prstGeom prst="rect">
            <a:avLst/>
          </a:prstGeom>
          <a:solidFill>
            <a:srgbClr val="182427"/>
          </a:solidFill>
          <a:ln w="7620">
            <a:solidFill>
              <a:srgbClr val="34424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93608" y="3858768"/>
            <a:ext cx="19293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1DAFB"/>
                </a:solidFill>
              </a:rPr>
              <a:t>Bloomberg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669280" y="4425696"/>
            <a:ext cx="2148840" cy="365760"/>
          </a:xfrm>
          <a:prstGeom prst="rect">
            <a:avLst/>
          </a:prstGeom>
          <a:solidFill>
            <a:srgbClr val="182427"/>
          </a:solidFill>
          <a:ln w="7620">
            <a:solidFill>
              <a:srgbClr val="34424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779008" y="4517136"/>
            <a:ext cx="19293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1DAFB"/>
                </a:solidFill>
              </a:rPr>
              <a:t>Discord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8183880" y="4425696"/>
            <a:ext cx="2148840" cy="365760"/>
          </a:xfrm>
          <a:prstGeom prst="rect">
            <a:avLst/>
          </a:prstGeom>
          <a:solidFill>
            <a:srgbClr val="182427"/>
          </a:solidFill>
          <a:ln w="7620">
            <a:solidFill>
              <a:srgbClr val="34424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93608" y="4517136"/>
            <a:ext cx="19293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1DAFB"/>
                </a:solidFill>
              </a:rPr>
              <a:t>Coinbase</a:t>
            </a:r>
            <a:endParaRPr lang="en-US" sz="950" dirty="0"/>
          </a:p>
        </p:txBody>
      </p:sp>
      <p:sp>
        <p:nvSpPr>
          <p:cNvPr id="19" name="Text 17">
            <a:hlinkClick r:id="rId1" tooltip=""/>
          </p:cNvPr>
          <p:cNvSpPr/>
          <p:nvPr/>
        </p:nvSpPr>
        <p:spPr>
          <a:xfrm>
            <a:off x="603504" y="6510528"/>
            <a:ext cx="9875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u="sng" dirty="0">
                <a:solidFill>
                  <a:srgbClr val="718084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https://engineering.fb.com/2025/10/07/open-source/introducing-the-react-foundation-the-new-home-for-react-react-native/</a:t>
            </a:r>
            <a:endParaRPr lang="en-US" sz="74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37392" y="13716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D8B8F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" y="713232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spc="160" kern="0" dirty="0">
                <a:solidFill>
                  <a:srgbClr val="10798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 · SEGURANÇA</a:t>
            </a:r>
            <a:endParaRPr lang="en-US" sz="920" dirty="0"/>
          </a:p>
        </p:txBody>
      </p:sp>
      <p:sp>
        <p:nvSpPr>
          <p:cNvPr id="3" name="Text 1"/>
          <p:cNvSpPr/>
          <p:nvPr/>
        </p:nvSpPr>
        <p:spPr>
          <a:xfrm>
            <a:off x="621792" y="1069848"/>
            <a:ext cx="658368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11171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CVE-2025-55182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2395728"/>
            <a:ext cx="6080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6571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Execução remota não autenticada em React Server Components. CVSS 10.0.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685800" y="3136392"/>
            <a:ext cx="1874520" cy="1993392"/>
          </a:xfrm>
          <a:prstGeom prst="rect">
            <a:avLst/>
          </a:prstGeom>
          <a:solidFill>
            <a:srgbClr val="C93D3D"/>
          </a:solidFill>
          <a:ln w="12700">
            <a:solidFill>
              <a:srgbClr val="C93D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3429000"/>
            <a:ext cx="1325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10.0</a:t>
            </a:r>
            <a:endParaRPr lang="en-US" sz="3900" dirty="0"/>
          </a:p>
        </p:txBody>
      </p:sp>
      <p:sp>
        <p:nvSpPr>
          <p:cNvPr id="7" name="Text 5"/>
          <p:cNvSpPr/>
          <p:nvPr/>
        </p:nvSpPr>
        <p:spPr>
          <a:xfrm>
            <a:off x="960120" y="4251960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80" kern="0" dirty="0">
                <a:solidFill>
                  <a:srgbClr val="FFFFFF"/>
                </a:solidFill>
              </a:rPr>
              <a:t>CRÍTICA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63240" y="3108960"/>
            <a:ext cx="10058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798E"/>
                </a:solidFill>
              </a:rPr>
              <a:t>ESCOPO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251960" y="3108960"/>
            <a:ext cx="6812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30" dirty="0">
                <a:solidFill>
                  <a:srgbClr val="111719"/>
                </a:solidFill>
              </a:rPr>
              <a:t>react-server-dom-*</a:t>
            </a:r>
            <a:endParaRPr lang="en-US" sz="1230" dirty="0"/>
          </a:p>
        </p:txBody>
      </p:sp>
      <p:sp>
        <p:nvSpPr>
          <p:cNvPr id="10" name="Shape 8"/>
          <p:cNvSpPr/>
          <p:nvPr/>
        </p:nvSpPr>
        <p:spPr>
          <a:xfrm>
            <a:off x="3063240" y="3493008"/>
            <a:ext cx="7955280" cy="0"/>
          </a:xfrm>
          <a:prstGeom prst="line">
            <a:avLst/>
          </a:prstGeom>
          <a:noFill/>
          <a:ln w="7620">
            <a:solidFill>
              <a:srgbClr val="CAD1C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063240" y="3657600"/>
            <a:ext cx="10058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798E"/>
                </a:solidFill>
              </a:rPr>
              <a:t>AFETADAS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251960" y="3657600"/>
            <a:ext cx="6812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30" dirty="0">
                <a:solidFill>
                  <a:srgbClr val="111719"/>
                </a:solidFill>
              </a:rPr>
              <a:t>19.0.0 · 19.1.0 · 19.1.1 · 19.2.0</a:t>
            </a:r>
            <a:endParaRPr lang="en-US" sz="1230" dirty="0"/>
          </a:p>
        </p:txBody>
      </p:sp>
      <p:sp>
        <p:nvSpPr>
          <p:cNvPr id="13" name="Shape 11"/>
          <p:cNvSpPr/>
          <p:nvPr/>
        </p:nvSpPr>
        <p:spPr>
          <a:xfrm>
            <a:off x="3063240" y="4041648"/>
            <a:ext cx="7955280" cy="0"/>
          </a:xfrm>
          <a:prstGeom prst="line">
            <a:avLst/>
          </a:prstGeom>
          <a:noFill/>
          <a:ln w="7620">
            <a:solidFill>
              <a:srgbClr val="CAD1C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63240" y="4206240"/>
            <a:ext cx="10058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798E"/>
                </a:solidFill>
              </a:rPr>
              <a:t>CORREÇÃO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251960" y="4206240"/>
            <a:ext cx="6812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30" dirty="0">
                <a:solidFill>
                  <a:srgbClr val="111719"/>
                </a:solidFill>
              </a:rPr>
              <a:t>19.0.1 · 19.1.2 · 19.2.1</a:t>
            </a:r>
            <a:endParaRPr lang="en-US" sz="1230" dirty="0"/>
          </a:p>
        </p:txBody>
      </p:sp>
      <p:sp>
        <p:nvSpPr>
          <p:cNvPr id="16" name="Shape 14"/>
          <p:cNvSpPr/>
          <p:nvPr/>
        </p:nvSpPr>
        <p:spPr>
          <a:xfrm>
            <a:off x="3063240" y="4590288"/>
            <a:ext cx="7955280" cy="0"/>
          </a:xfrm>
          <a:prstGeom prst="line">
            <a:avLst/>
          </a:prstGeom>
          <a:noFill/>
          <a:ln w="7620">
            <a:solidFill>
              <a:srgbClr val="CAD1C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063240" y="4754880"/>
            <a:ext cx="10058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798E"/>
                </a:solidFill>
              </a:rPr>
              <a:t>PROJETO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251960" y="4754880"/>
            <a:ext cx="6812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30" b="1" dirty="0">
                <a:solidFill>
                  <a:srgbClr val="111719"/>
                </a:solidFill>
              </a:rPr>
              <a:t>Vite client-side sem RSC: não afetado diretamente</a:t>
            </a:r>
            <a:endParaRPr lang="en-US" sz="1230" dirty="0"/>
          </a:p>
        </p:txBody>
      </p:sp>
      <p:sp>
        <p:nvSpPr>
          <p:cNvPr id="19" name="Shape 17"/>
          <p:cNvSpPr/>
          <p:nvPr/>
        </p:nvSpPr>
        <p:spPr>
          <a:xfrm>
            <a:off x="3063240" y="5138928"/>
            <a:ext cx="7955280" cy="0"/>
          </a:xfrm>
          <a:prstGeom prst="line">
            <a:avLst/>
          </a:prstGeom>
          <a:noFill/>
          <a:ln w="7620">
            <a:solidFill>
              <a:srgbClr val="CAD1CE"/>
            </a:solidFill>
            <a:prstDash val="solid"/>
          </a:ln>
        </p:spPr>
      </p:sp>
      <p:sp>
        <p:nvSpPr>
          <p:cNvPr id="20" name="Text 18">
            <a:hlinkClick r:id="rId1" tooltip=""/>
          </p:cNvPr>
          <p:cNvSpPr/>
          <p:nvPr/>
        </p:nvSpPr>
        <p:spPr>
          <a:xfrm>
            <a:off x="603504" y="6510528"/>
            <a:ext cx="9875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u="sng" dirty="0">
                <a:solidFill>
                  <a:srgbClr val="6C797C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https://react.dev/blog/2025/12/03/critical-security-vulnerability-in-react-server-components</a:t>
            </a:r>
            <a:endParaRPr lang="en-US" sz="74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37392" y="13716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1808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" y="713232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spc="160" kern="0" dirty="0">
                <a:solidFill>
                  <a:srgbClr val="61DA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 · PROJETO WEB</a:t>
            </a:r>
            <a:endParaRPr lang="en-US" sz="920" dirty="0"/>
          </a:p>
        </p:txBody>
      </p:sp>
      <p:sp>
        <p:nvSpPr>
          <p:cNvPr id="3" name="Text 1"/>
          <p:cNvSpPr/>
          <p:nvPr/>
        </p:nvSpPr>
        <p:spPr>
          <a:xfrm>
            <a:off x="621792" y="1069848"/>
            <a:ext cx="658368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EF5F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ReactLab une conteúdo e prática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2395728"/>
            <a:ext cx="6080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9EACA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mesma aplicação publica o seminário e demonstra estado, efeitos e rotas.</a:t>
            </a:r>
            <a:endParaRPr lang="en-US" sz="1550" dirty="0"/>
          </a:p>
        </p:txBody>
      </p:sp>
      <p:pic>
        <p:nvPicPr>
          <p:cNvPr id="5" name="Image 0" descr="Tela real da demonstração ReactLab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0" y="1078992"/>
            <a:ext cx="4251960" cy="299923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13232" y="3246120"/>
            <a:ext cx="207568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203200" indent="-203200">
              <a:buSzPct val="100000"/>
              <a:buChar char="•"/>
            </a:pPr>
            <a:r>
              <a:rPr lang="en-US" sz="1400" dirty="0">
                <a:solidFill>
                  <a:srgbClr val="EEF5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Página pública</a:t>
            </a:r>
            <a:endParaRPr lang="en-US" sz="1400" dirty="0"/>
          </a:p>
          <a:p>
            <a:pPr marL="203200" indent="-203200">
              <a:buSzPct val="100000"/>
              <a:buChar char="•"/>
            </a:pPr>
            <a:r>
              <a:rPr lang="en-US" sz="1400" dirty="0">
                <a:solidFill>
                  <a:srgbClr val="EEF5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Deck HTML</a:t>
            </a:r>
            <a:endParaRPr lang="en-US" sz="1400" dirty="0"/>
          </a:p>
          <a:p>
            <a:pPr marL="203200" indent="-203200">
              <a:buSzPct val="100000"/>
              <a:buChar char="•"/>
            </a:pPr>
            <a:r>
              <a:rPr lang="en-US" sz="1400" dirty="0">
                <a:solidFill>
                  <a:srgbClr val="EEF5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Quadro de tarefas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3118104" y="3246120"/>
            <a:ext cx="207568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203200" indent="-203200">
              <a:buSzPct val="100000"/>
              <a:buChar char="•"/>
            </a:pPr>
            <a:r>
              <a:rPr lang="en-US" sz="1400" dirty="0">
                <a:solidFill>
                  <a:srgbClr val="EEF5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localStorage</a:t>
            </a:r>
            <a:endParaRPr lang="en-US" sz="1400" dirty="0"/>
          </a:p>
          <a:p>
            <a:pPr marL="203200" indent="-203200">
              <a:buSzPct val="100000"/>
              <a:buChar char="•"/>
            </a:pPr>
            <a:r>
              <a:rPr lang="en-US" sz="1400" dirty="0">
                <a:solidFill>
                  <a:srgbClr val="EEF5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HashRouter</a:t>
            </a:r>
            <a:endParaRPr lang="en-US" sz="1400" dirty="0"/>
          </a:p>
          <a:p>
            <a:pPr marL="203200" indent="-203200">
              <a:buSzPct val="100000"/>
              <a:buChar char="•"/>
            </a:pPr>
            <a:r>
              <a:rPr lang="en-US" sz="1400" dirty="0">
                <a:solidFill>
                  <a:srgbClr val="EEF5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 responsivo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989320" y="5074920"/>
            <a:ext cx="1097280" cy="365760"/>
          </a:xfrm>
          <a:prstGeom prst="rect">
            <a:avLst/>
          </a:prstGeom>
          <a:solidFill>
            <a:srgbClr val="182427"/>
          </a:solidFill>
          <a:ln w="7620">
            <a:solidFill>
              <a:srgbClr val="34424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099048" y="5166360"/>
            <a:ext cx="8778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1DAFB"/>
                </a:solidFill>
              </a:rPr>
              <a:t>#/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7287768" y="5074920"/>
            <a:ext cx="1097280" cy="365760"/>
          </a:xfrm>
          <a:prstGeom prst="rect">
            <a:avLst/>
          </a:prstGeom>
          <a:solidFill>
            <a:srgbClr val="182427"/>
          </a:solidFill>
          <a:ln w="7620">
            <a:solidFill>
              <a:srgbClr val="34424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397496" y="5166360"/>
            <a:ext cx="8778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1DAFB"/>
                </a:solidFill>
              </a:rPr>
              <a:t>#/slides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8586216" y="5074920"/>
            <a:ext cx="1097280" cy="365760"/>
          </a:xfrm>
          <a:prstGeom prst="rect">
            <a:avLst/>
          </a:prstGeom>
          <a:solidFill>
            <a:srgbClr val="182427"/>
          </a:solidFill>
          <a:ln w="7620">
            <a:solidFill>
              <a:srgbClr val="34424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695944" y="5166360"/>
            <a:ext cx="8778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1DAFB"/>
                </a:solidFill>
              </a:rPr>
              <a:t>#/demo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9884664" y="5074920"/>
            <a:ext cx="1097280" cy="365760"/>
          </a:xfrm>
          <a:prstGeom prst="rect">
            <a:avLst/>
          </a:prstGeom>
          <a:solidFill>
            <a:srgbClr val="182427"/>
          </a:solidFill>
          <a:ln w="7620">
            <a:solidFill>
              <a:srgbClr val="34424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994392" y="5166360"/>
            <a:ext cx="8778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1DAFB"/>
                </a:solidFill>
              </a:rPr>
              <a:t>#/referencias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603504" y="6510528"/>
            <a:ext cx="9875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71808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Aplicação real: github.com/luccalck/seminario-react-2ads</a:t>
            </a:r>
            <a:endParaRPr lang="en-US" sz="74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37392" y="13716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D8B8F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" y="713232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spc="160" kern="0" dirty="0">
                <a:solidFill>
                  <a:srgbClr val="61DA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 · DEMONSTRAÇÃO</a:t>
            </a:r>
            <a:endParaRPr lang="en-US" sz="920" dirty="0"/>
          </a:p>
        </p:txBody>
      </p:sp>
      <p:sp>
        <p:nvSpPr>
          <p:cNvPr id="3" name="Text 1"/>
          <p:cNvSpPr/>
          <p:nvPr/>
        </p:nvSpPr>
        <p:spPr>
          <a:xfrm>
            <a:off x="621792" y="1069848"/>
            <a:ext cx="658368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EF5F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 instalação à interação em 3 minutos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2395728"/>
            <a:ext cx="6080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9EACA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 público vê o código provocar uma mudança real e persistente.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731520" y="3429000"/>
            <a:ext cx="1874520" cy="1115568"/>
          </a:xfrm>
          <a:prstGeom prst="rect">
            <a:avLst/>
          </a:prstGeom>
          <a:solidFill>
            <a:srgbClr val="172326"/>
          </a:solidFill>
          <a:ln w="12700">
            <a:solidFill>
              <a:srgbClr val="3442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77824" y="3584448"/>
            <a:ext cx="384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1DA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77824" y="3913632"/>
            <a:ext cx="1572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EEF5F6"/>
                </a:solidFill>
              </a:rPr>
              <a:t>npm ci + npm run dev</a:t>
            </a:r>
            <a:endParaRPr lang="en-US" sz="1120" dirty="0"/>
          </a:p>
        </p:txBody>
      </p:sp>
      <p:sp>
        <p:nvSpPr>
          <p:cNvPr id="8" name="Shape 6"/>
          <p:cNvSpPr/>
          <p:nvPr/>
        </p:nvSpPr>
        <p:spPr>
          <a:xfrm>
            <a:off x="2651760" y="3794760"/>
            <a:ext cx="228600" cy="320040"/>
          </a:xfrm>
          <a:prstGeom prst="chevron">
            <a:avLst/>
          </a:prstGeom>
          <a:solidFill>
            <a:srgbClr val="61DAFB"/>
          </a:solidFill>
          <a:ln w="12700">
            <a:solidFill>
              <a:srgbClr val="61DAF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971800" y="3429000"/>
            <a:ext cx="1874520" cy="1115568"/>
          </a:xfrm>
          <a:prstGeom prst="rect">
            <a:avLst/>
          </a:prstGeom>
          <a:solidFill>
            <a:srgbClr val="123D46"/>
          </a:solidFill>
          <a:ln w="12700">
            <a:solidFill>
              <a:srgbClr val="61DAF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118104" y="3584448"/>
            <a:ext cx="384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1DA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118104" y="3913632"/>
            <a:ext cx="1572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EEF5F6"/>
                </a:solidFill>
              </a:rPr>
              <a:t>criar e concluir tarefa</a:t>
            </a:r>
            <a:endParaRPr lang="en-US" sz="1120" dirty="0"/>
          </a:p>
        </p:txBody>
      </p:sp>
      <p:sp>
        <p:nvSpPr>
          <p:cNvPr id="12" name="Shape 10"/>
          <p:cNvSpPr/>
          <p:nvPr/>
        </p:nvSpPr>
        <p:spPr>
          <a:xfrm>
            <a:off x="4892040" y="3794760"/>
            <a:ext cx="228600" cy="320040"/>
          </a:xfrm>
          <a:prstGeom prst="chevron">
            <a:avLst/>
          </a:prstGeom>
          <a:solidFill>
            <a:srgbClr val="61DAFB"/>
          </a:solidFill>
          <a:ln w="12700">
            <a:solidFill>
              <a:srgbClr val="61DAF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212080" y="3429000"/>
            <a:ext cx="1874520" cy="1115568"/>
          </a:xfrm>
          <a:prstGeom prst="rect">
            <a:avLst/>
          </a:prstGeom>
          <a:solidFill>
            <a:srgbClr val="172326"/>
          </a:solidFill>
          <a:ln w="12700">
            <a:solidFill>
              <a:srgbClr val="34424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358384" y="3584448"/>
            <a:ext cx="384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1DA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358384" y="3913632"/>
            <a:ext cx="1572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EEF5F6"/>
                </a:solidFill>
              </a:rPr>
              <a:t>filtrar e recarregar</a:t>
            </a:r>
            <a:endParaRPr lang="en-US" sz="1120" dirty="0"/>
          </a:p>
        </p:txBody>
      </p:sp>
      <p:sp>
        <p:nvSpPr>
          <p:cNvPr id="16" name="Shape 14"/>
          <p:cNvSpPr/>
          <p:nvPr/>
        </p:nvSpPr>
        <p:spPr>
          <a:xfrm>
            <a:off x="7132320" y="3794760"/>
            <a:ext cx="228600" cy="320040"/>
          </a:xfrm>
          <a:prstGeom prst="chevron">
            <a:avLst/>
          </a:prstGeom>
          <a:solidFill>
            <a:srgbClr val="61DAFB"/>
          </a:solidFill>
          <a:ln w="12700">
            <a:solidFill>
              <a:srgbClr val="61DAF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452360" y="3429000"/>
            <a:ext cx="1874520" cy="1115568"/>
          </a:xfrm>
          <a:prstGeom prst="rect">
            <a:avLst/>
          </a:prstGeom>
          <a:solidFill>
            <a:srgbClr val="172326"/>
          </a:solidFill>
          <a:ln w="12700">
            <a:solidFill>
              <a:srgbClr val="34424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598664" y="3584448"/>
            <a:ext cx="384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1DA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598664" y="3913632"/>
            <a:ext cx="1572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EEF5F6"/>
                </a:solidFill>
              </a:rPr>
              <a:t>abrir reducer + effect</a:t>
            </a:r>
            <a:endParaRPr lang="en-US" sz="1120" dirty="0"/>
          </a:p>
        </p:txBody>
      </p:sp>
      <p:sp>
        <p:nvSpPr>
          <p:cNvPr id="20" name="Shape 18"/>
          <p:cNvSpPr/>
          <p:nvPr/>
        </p:nvSpPr>
        <p:spPr>
          <a:xfrm>
            <a:off x="9372600" y="3794760"/>
            <a:ext cx="228600" cy="320040"/>
          </a:xfrm>
          <a:prstGeom prst="chevron">
            <a:avLst/>
          </a:prstGeom>
          <a:solidFill>
            <a:srgbClr val="61DAFB"/>
          </a:solidFill>
          <a:ln w="12700">
            <a:solidFill>
              <a:srgbClr val="61DAF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692640" y="3429000"/>
            <a:ext cx="1874520" cy="1115568"/>
          </a:xfrm>
          <a:prstGeom prst="rect">
            <a:avLst/>
          </a:prstGeom>
          <a:solidFill>
            <a:srgbClr val="172326"/>
          </a:solidFill>
          <a:ln w="12700">
            <a:solidFill>
              <a:srgbClr val="34424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838944" y="3584448"/>
            <a:ext cx="384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1DA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838944" y="3913632"/>
            <a:ext cx="1572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EEF5F6"/>
                </a:solidFill>
              </a:rPr>
              <a:t>npm run build</a:t>
            </a:r>
            <a:endParaRPr lang="en-US" sz="1120" dirty="0"/>
          </a:p>
        </p:txBody>
      </p:sp>
      <p:sp>
        <p:nvSpPr>
          <p:cNvPr id="24" name="Text 22"/>
          <p:cNvSpPr/>
          <p:nvPr/>
        </p:nvSpPr>
        <p:spPr>
          <a:xfrm>
            <a:off x="749808" y="5120640"/>
            <a:ext cx="10287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61DAFB"/>
                </a:solidFill>
              </a:rPr>
              <a:t>Recursos demonstrados: componentes + props · reducer · effect · rota declarativa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03504" y="6510528"/>
            <a:ext cx="9875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71808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Roteiro executável no README e em docs/ROTEIRO_DE_FALA.md</a:t>
            </a:r>
            <a:endParaRPr lang="en-US" sz="74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37392" y="13716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D8B8F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" y="713232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spc="160" kern="0" dirty="0">
                <a:solidFill>
                  <a:srgbClr val="10798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 · CONCLUSÃO</a:t>
            </a:r>
            <a:endParaRPr lang="en-US" sz="920" dirty="0"/>
          </a:p>
        </p:txBody>
      </p:sp>
      <p:sp>
        <p:nvSpPr>
          <p:cNvPr id="3" name="Text 1"/>
          <p:cNvSpPr/>
          <p:nvPr/>
        </p:nvSpPr>
        <p:spPr>
          <a:xfrm>
            <a:off x="621792" y="1069848"/>
            <a:ext cx="658368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11171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React é uma escolha, não um padrão automático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2395728"/>
            <a:ext cx="6080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6571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Recomendamos para interfaces interativas e evolutivas; não para toda página Web.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6126480" y="2971800"/>
            <a:ext cx="0" cy="2606040"/>
          </a:xfrm>
          <a:prstGeom prst="line">
            <a:avLst/>
          </a:prstGeom>
          <a:noFill/>
          <a:ln w="12700">
            <a:solidFill>
              <a:srgbClr val="CAD1C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30906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798E"/>
                </a:solidFill>
              </a:rPr>
              <a:t>RECOMENDAR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49808" y="3566160"/>
            <a:ext cx="4480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203200" indent="-203200">
              <a:buSzPct val="100000"/>
              <a:buChar char="•"/>
            </a:pPr>
            <a:r>
              <a:rPr lang="en-US" sz="1400" dirty="0">
                <a:solidFill>
                  <a:srgbClr val="11171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Estado e interação frequentes</a:t>
            </a:r>
            <a:endParaRPr lang="en-US" sz="1400" dirty="0"/>
          </a:p>
          <a:p>
            <a:pPr marL="203200" indent="-203200">
              <a:buSzPct val="100000"/>
              <a:buChar char="•"/>
            </a:pPr>
            <a:r>
              <a:rPr lang="en-US" sz="1400" dirty="0">
                <a:solidFill>
                  <a:srgbClr val="11171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Componentes compartilhados</a:t>
            </a:r>
            <a:endParaRPr lang="en-US" sz="1400" dirty="0"/>
          </a:p>
          <a:p>
            <a:pPr marL="203200" indent="-203200">
              <a:buSzPct val="100000"/>
              <a:buChar char="•"/>
            </a:pPr>
            <a:r>
              <a:rPr lang="en-US" sz="1400" dirty="0">
                <a:solidFill>
                  <a:srgbClr val="11171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Produto que evolui por partes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29400" y="309067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798E"/>
                </a:solidFill>
              </a:rPr>
              <a:t>FONTES ESSENCIAIS</a:t>
            </a:r>
            <a:endParaRPr lang="en-US" sz="1100" dirty="0"/>
          </a:p>
        </p:txBody>
      </p:sp>
      <p:sp>
        <p:nvSpPr>
          <p:cNvPr id="9" name="Text 7">
            <a:hlinkClick r:id="rId1" tooltip=""/>
          </p:cNvPr>
          <p:cNvSpPr/>
          <p:nvPr/>
        </p:nvSpPr>
        <p:spPr>
          <a:xfrm>
            <a:off x="6656832" y="3529584"/>
            <a:ext cx="4343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0" u="sng" dirty="0">
                <a:solidFill>
                  <a:srgbClr val="111719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react.dev/learn</a:t>
            </a:r>
            <a:endParaRPr lang="en-US" sz="970" dirty="0"/>
          </a:p>
        </p:txBody>
      </p:sp>
      <p:sp>
        <p:nvSpPr>
          <p:cNvPr id="10" name="Text 8">
            <a:hlinkClick r:id="rId2" tooltip=""/>
          </p:cNvPr>
          <p:cNvSpPr/>
          <p:nvPr/>
        </p:nvSpPr>
        <p:spPr>
          <a:xfrm>
            <a:off x="6656832" y="3840480"/>
            <a:ext cx="4343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0" u="sng" dirty="0">
                <a:solidFill>
                  <a:srgbClr val="111719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react.dev/versions</a:t>
            </a:r>
            <a:endParaRPr lang="en-US" sz="970" dirty="0"/>
          </a:p>
        </p:txBody>
      </p:sp>
      <p:sp>
        <p:nvSpPr>
          <p:cNvPr id="11" name="Text 9">
            <a:hlinkClick r:id="rId3" tooltip=""/>
          </p:cNvPr>
          <p:cNvSpPr/>
          <p:nvPr/>
        </p:nvSpPr>
        <p:spPr>
          <a:xfrm>
            <a:off x="6656832" y="4151376"/>
            <a:ext cx="4343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0" u="sng" dirty="0">
                <a:solidFill>
                  <a:srgbClr val="111719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vite.dev/guide</a:t>
            </a:r>
            <a:endParaRPr lang="en-US" sz="970" dirty="0"/>
          </a:p>
        </p:txBody>
      </p:sp>
      <p:sp>
        <p:nvSpPr>
          <p:cNvPr id="12" name="Text 10">
            <a:hlinkClick r:id="rId4" tooltip=""/>
          </p:cNvPr>
          <p:cNvSpPr/>
          <p:nvPr/>
        </p:nvSpPr>
        <p:spPr>
          <a:xfrm>
            <a:off x="6656832" y="4462272"/>
            <a:ext cx="4343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0" u="sng" dirty="0">
                <a:solidFill>
                  <a:srgbClr val="111719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react.dev/blog/.../CVE-2025-55182</a:t>
            </a:r>
            <a:endParaRPr lang="en-US" sz="970" dirty="0"/>
          </a:p>
        </p:txBody>
      </p:sp>
      <p:sp>
        <p:nvSpPr>
          <p:cNvPr id="13" name="Text 11">
            <a:hlinkClick r:id="rId5" tooltip=""/>
          </p:cNvPr>
          <p:cNvSpPr/>
          <p:nvPr/>
        </p:nvSpPr>
        <p:spPr>
          <a:xfrm>
            <a:off x="6656832" y="4773168"/>
            <a:ext cx="4343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0" u="sng" dirty="0">
                <a:solidFill>
                  <a:srgbClr val="111719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docs.github.com/pages</a:t>
            </a:r>
            <a:endParaRPr lang="en-US" sz="970" dirty="0"/>
          </a:p>
        </p:txBody>
      </p:sp>
      <p:sp>
        <p:nvSpPr>
          <p:cNvPr id="14" name="Text 12">
            <a:hlinkClick r:id="rId6" tooltip=""/>
          </p:cNvPr>
          <p:cNvSpPr/>
          <p:nvPr/>
        </p:nvSpPr>
        <p:spPr>
          <a:xfrm>
            <a:off x="6656832" y="5084064"/>
            <a:ext cx="4343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0" u="sng" dirty="0">
                <a:solidFill>
                  <a:srgbClr val="111719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reactrouter.com/HashRouter</a:t>
            </a:r>
            <a:endParaRPr lang="en-US" sz="970" dirty="0"/>
          </a:p>
        </p:txBody>
      </p:sp>
      <p:sp>
        <p:nvSpPr>
          <p:cNvPr id="15" name="Text 13">
            <a:hlinkClick r:id="rId7" tooltip=""/>
          </p:cNvPr>
          <p:cNvSpPr/>
          <p:nvPr/>
        </p:nvSpPr>
        <p:spPr>
          <a:xfrm>
            <a:off x="731520" y="5715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u="sng" dirty="0">
                <a:solidFill>
                  <a:srgbClr val="10798E"/>
                </a:solidFill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github.com/luccalck/seminario-react-2ads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03504" y="6510528"/>
            <a:ext cx="9875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6C79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Todas as referências completas estão no README e na página pública.</a:t>
            </a:r>
            <a:endParaRPr lang="en-US" sz="74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37392" y="13716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1808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SENAI Félix Guisard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React — interfaces Web baseadas em componentes</dc:title>
  <dc:subject>Seminário de Frameworks Front-end — React</dc:subject>
  <dc:creator>João Gabriel; João Pedro Fonseca; Lucas Souza; Miguel Oliveira; Davi Souza; Lucca Castilho; Pedro de Lima; Renan Ramos</dc:creator>
  <cp:lastModifiedBy>João Gabriel; João Pedro Fonseca; Lucas Souza; Miguel Oliveira; Davi Souza; Lucca Castilho; Pedro de Lima; Renan Ramos</cp:lastModifiedBy>
  <cp:revision>1</cp:revision>
  <dcterms:created xsi:type="dcterms:W3CDTF">2026-09-22T03:19:48Z</dcterms:created>
  <dcterms:modified xsi:type="dcterms:W3CDTF">2026-09-22T03:19:48Z</dcterms:modified>
</cp:coreProperties>
</file>