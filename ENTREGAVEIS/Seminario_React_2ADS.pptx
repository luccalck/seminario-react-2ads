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7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1183112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5544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REACTLAB · FRAMEWORKS FRONT-END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1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1183112" cy="0"/>
          </a:xfrm>
          <a:prstGeom prst="line">
            <a:avLst/>
          </a:prstGeom>
          <a:noFill/>
          <a:ln w="8890">
            <a:solidFill>
              <a:srgbClr val="C9D0C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15544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REACTLAB · FRAMEWORKS FRONT-END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hyperlink" Target="https://react.dev/version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hyperlink" Target="https://react.dev/learn/creating-a-react-app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hyperlink" Target="https://react.dev/learn/describing-the-ui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hyperlink" Target="https://vite.dev/guide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hyperlink" Target="https://react.dev/reference/react/hook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hyperlink" Target="https://engineering.fb.com/2025/10/07/open-source/introducing-the-react-foundation-the-new-home-for-react-react-native/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hyperlink" Target="https://react.dev/blog/2025/12/03/critical-security-vulnerability-in-react-server-component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hyperlink" Target="https://react.dev/learn" TargetMode="External"/><Relationship Id="rId2" Type="http://schemas.openxmlformats.org/officeDocument/2006/relationships/hyperlink" Target="https://react.dev/versions" TargetMode="External"/><Relationship Id="rId3" Type="http://schemas.openxmlformats.org/officeDocument/2006/relationships/hyperlink" Target="https://vite.dev/guide" TargetMode="External"/><Relationship Id="rId4" Type="http://schemas.openxmlformats.org/officeDocument/2006/relationships/hyperlink" Target="https://react.dev/blog/blog/2025/12/03/critical-security-vulnerability-in-react-server-components" TargetMode="External"/><Relationship Id="rId5" Type="http://schemas.openxmlformats.org/officeDocument/2006/relationships/hyperlink" Target="https://docs.github.com/pages" TargetMode="External"/><Relationship Id="rId6" Type="http://schemas.openxmlformats.org/officeDocument/2006/relationships/hyperlink" Target="https://reactrouter.com/HashRouter" TargetMode="External"/><Relationship Id="rId7" Type="http://schemas.openxmlformats.org/officeDocument/2006/relationships/hyperlink" Target="https://github.com/luccalck/seminario-react-2ads" TargetMode="External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960120"/>
            <a:ext cx="6035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1DAFB"/>
                </a:solidFill>
              </a:rPr>
              <a:t>interfaces Web baseadas em componentes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58368" y="28529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70" kern="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SEMINÁRIO · 2º ADS · 22/09/2026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3600000"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7200000">
            <a:off x="8046720" y="2108606"/>
            <a:ext cx="2926080" cy="994867"/>
          </a:xfrm>
          <a:prstGeom prst="ellipse">
            <a:avLst/>
          </a:prstGeom>
          <a:solidFill>
            <a:srgbClr val="111719">
              <a:alpha val="0"/>
            </a:srgbClr>
          </a:solidFill>
          <a:ln w="31750">
            <a:solidFill>
              <a:srgbClr val="61DAFB">
                <a:alpha val="9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34195" y="2430475"/>
            <a:ext cx="351130" cy="351130"/>
          </a:xfrm>
          <a:prstGeom prst="ellipse">
            <a:avLst/>
          </a:prstGeom>
          <a:solidFill>
            <a:srgbClr val="61DAFB"/>
          </a:solidFill>
          <a:ln w="12700">
            <a:solidFill>
              <a:srgbClr val="61DAFB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João Gabriel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0428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João Pedro Fonseca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95020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Lucas Souza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596128" y="4864608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Miguel Oliveira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5836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Davi Souza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30428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Lucca Castilho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95020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Pedro de Lima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596128" y="5248656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EF5F6"/>
                </a:solidFill>
              </a:rPr>
              <a:t>Renan Ramos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75320" y="5797296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SENAI Félix Guisard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e fontes: github.com/luccalck/seminario-react-2ads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· DEFINIÇÃO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biblioteca para construir interfaces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descreve a interface como função do estado.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24871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JavaScript de código aberto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 reutilizáveis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502152" y="3246120"/>
            <a:ext cx="248716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Camada de apresentação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Renderização declarativa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406640" y="1234440"/>
            <a:ext cx="3886200" cy="4297680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67335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DADOS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006840" y="2011680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18120" y="2459736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ESTADO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06840" y="2798064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18120" y="32461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F5F6"/>
                </a:solidFill>
              </a:rPr>
              <a:t>COMPONENTES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06840" y="3584448"/>
            <a:ext cx="594360" cy="320040"/>
          </a:xfrm>
          <a:prstGeom prst="downArrow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4032504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1DAFB"/>
                </a:solidFill>
              </a:rPr>
              <a:t>INTERFACE</a:t>
            </a:r>
            <a:endParaRPr lang="en-US" sz="14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Fonte: React Docs — Quick Start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· ORIGEM E EVOLUÇÃO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2013 à React Foundation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tecnologia evoluiu sem abandonar o modelo de componentes.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" y="4663440"/>
            <a:ext cx="10515600" cy="0"/>
          </a:xfrm>
          <a:prstGeom prst="line">
            <a:avLst/>
          </a:prstGeom>
          <a:noFill/>
          <a:ln w="25400">
            <a:solidFill>
              <a:srgbClr val="34424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Jordan Walke · Facebook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803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46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8346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Fiber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377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2019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Hooks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951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2022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94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React 18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052560" y="4517136"/>
            <a:ext cx="256032" cy="256032"/>
          </a:xfrm>
          <a:prstGeom prst="ellipse">
            <a:avLst/>
          </a:prstGeom>
          <a:solidFill>
            <a:srgbClr val="3141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068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5F6"/>
                </a:solidFill>
              </a:rPr>
              <a:t>2024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0068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React 19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1109960" y="4517136"/>
            <a:ext cx="256032" cy="256032"/>
          </a:xfrm>
          <a:prstGeom prst="ellipse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64240" y="370332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1DAFB"/>
                </a:solidFill>
              </a:rPr>
              <a:t>2026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064240" y="4956048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EACAF"/>
                </a:solidFill>
              </a:rPr>
              <a:t>Foundation 19.3</a:t>
            </a:r>
            <a:endParaRPr lang="en-US" sz="1050" dirty="0"/>
          </a:p>
        </p:txBody>
      </p:sp>
      <p:sp>
        <p:nvSpPr>
          <p:cNvPr id="24" name="Text 22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Fontes: React Versions · React Foundation · React 19.3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DECISÃO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faz sentido quando a interface muda muito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Complexidade de estado e reutilização justificam a biblioteca.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1DAFB"/>
                </a:solidFill>
              </a:rPr>
              <a:t>USE REACT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370332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SPAs e painéis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systems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Fluxos interativos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Adoção gradual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89320" y="3218688"/>
            <a:ext cx="0" cy="2176272"/>
          </a:xfrm>
          <a:prstGeom prst="line">
            <a:avLst/>
          </a:prstGeom>
          <a:noFill/>
          <a:ln w="1397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C56B"/>
                </a:solidFill>
              </a:rPr>
              <a:t>CONSIDERE OUTRA OPÇÃO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65392" y="370332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HTML/CSS em páginas simples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Framework React no full stack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Native no mobile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Solução mais opinativa</a:t>
            </a:r>
            <a:endParaRPr lang="en-US" sz="14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Fonte: React Docs — Creating a React App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· ARQUITETURA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Estado entra. Interface reage.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Eventos atualizam o estado; React reconcilia a árvore e confirma mudanças no DOM.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INTERAÇÃO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14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44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54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EVENTO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00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0368" y="3703320"/>
            <a:ext cx="1691640" cy="713232"/>
          </a:xfrm>
          <a:prstGeom prst="rect">
            <a:avLst/>
          </a:prstGeom>
          <a:solidFill>
            <a:srgbClr val="123D46"/>
          </a:solidFill>
          <a:ln w="13970">
            <a:solidFill>
              <a:srgbClr val="61DA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0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1DAFB"/>
                </a:solidFill>
              </a:rPr>
              <a:t>ESTADO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86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16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ÁRVORE REACT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272016" y="3886200"/>
            <a:ext cx="384048" cy="347472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02368" y="3703320"/>
            <a:ext cx="1691640" cy="713232"/>
          </a:xfrm>
          <a:prstGeom prst="rect">
            <a:avLst/>
          </a:prstGeom>
          <a:solidFill>
            <a:srgbClr val="172326"/>
          </a:solidFill>
          <a:ln w="1397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12096" y="3931920"/>
            <a:ext cx="1472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F5F6"/>
                </a:solidFill>
              </a:rPr>
              <a:t>DOM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JSX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0604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props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8912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9884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state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17220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8192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hooks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5528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6500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context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738360" y="5074920"/>
            <a:ext cx="141732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848088" y="5166360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React DOM</a:t>
            </a:r>
            <a:endParaRPr lang="en-US" sz="950" dirty="0"/>
          </a:p>
        </p:txBody>
      </p:sp>
      <p:sp>
        <p:nvSpPr>
          <p:cNvPr id="31" name="Text 29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Fontes: React Docs — Learn · Render and Commit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· PRÉ-REQUISITOS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amplia uma base Web sólida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JSX não substitui HTML, CSS ou JavaScript: ele os conecta.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13232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261872" y="32278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HTML semântico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13232" y="3703320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9959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61872" y="39776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CSS responsivo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" y="4453128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4745736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61872" y="4727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JavaScript moderno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13232" y="5202936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24612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20840" y="322783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Node.js + npm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72200" y="3703320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3995928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397764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HTTP + APIs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172200" y="4453128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4745736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720840" y="4727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F5F6"/>
                </a:solidFill>
              </a:rPr>
              <a:t>TypeScript + Git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2200" y="5202936"/>
            <a:ext cx="4480560" cy="0"/>
          </a:xfrm>
          <a:prstGeom prst="line">
            <a:avLst/>
          </a:prstGeom>
          <a:noFill/>
          <a:ln w="8890">
            <a:solidFill>
              <a:srgbClr val="344247"/>
            </a:solidFill>
            <a:prstDash val="solid"/>
          </a:ln>
        </p:spPr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Fonte: React Docs — Describing the UI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· INSTALAÇÃO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Primeiro projeto com Vite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Ferramenta atual, rápida e adequada a uma aplicação client-side.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6492240" cy="2121408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355848"/>
            <a:ext cx="6016752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 react-seminario -- --template react-ts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react-seminario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react-router-dom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7726680" y="32004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0798E"/>
                </a:solidFill>
              </a:rPr>
              <a:t>VERSÕES VERIFICADAS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26680" y="367588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React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0" y="367588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19.3.0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26680" y="40873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Vite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784080" y="408736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8.3.0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26680" y="449884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Router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784080" y="449884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7.18.4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26680" y="4910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96C"/>
                </a:solidFill>
              </a:rPr>
              <a:t>Node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784080" y="49103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20.19+</a:t>
            </a:r>
            <a:endParaRPr lang="en-US" sz="1200" dirty="0"/>
          </a:p>
        </p:txBody>
      </p:sp>
      <p:sp>
        <p:nvSpPr>
          <p:cNvPr id="16" name="Text 14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Fontes: Vite Guide · React — Build from Scratch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· ESTRUTURA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Responsabilidades fáceis de localizar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Entrada, rotas, páginas, estado e componentes permanecem separados.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5715000" cy="2514600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264408"/>
            <a:ext cx="5239512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components/    peças reutilizáveis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context/       estado e persistência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data/          conteúdo e fontes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pages/         quatro rotas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App.tsx        layout + rotas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main.tsx       raiz React</a:t>
            </a:r>
            <a:endParaRPr lang="en-US" sz="1230" dirty="0"/>
          </a:p>
        </p:txBody>
      </p:sp>
      <p:sp>
        <p:nvSpPr>
          <p:cNvPr id="7" name="Shape 5"/>
          <p:cNvSpPr/>
          <p:nvPr/>
        </p:nvSpPr>
        <p:spPr>
          <a:xfrm>
            <a:off x="7132320" y="3154680"/>
            <a:ext cx="397764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3328416"/>
            <a:ext cx="3520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11719"/>
                </a:solidFill>
              </a:rPr>
              <a:t>main.tsx  ·  cria a raiz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7680960" y="3584448"/>
            <a:ext cx="3429000" cy="502920"/>
          </a:xfrm>
          <a:prstGeom prst="rect">
            <a:avLst/>
          </a:prstGeom>
          <a:solidFill>
            <a:srgbClr val="D9E0DC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0" y="3758184"/>
            <a:ext cx="2971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111719"/>
                </a:solidFill>
              </a:rPr>
              <a:t>App.tsx  ·  organiza rotas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8229600" y="4014216"/>
            <a:ext cx="288036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4187952"/>
            <a:ext cx="2423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pages  ·  compõem telas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8778240" y="4443984"/>
            <a:ext cx="2331720" cy="502920"/>
          </a:xfrm>
          <a:prstGeom prst="rect">
            <a:avLst/>
          </a:prstGeom>
          <a:solidFill>
            <a:srgbClr val="D9E0DC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0" y="4617720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components  ·  reutilizam UI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326880" y="4873752"/>
            <a:ext cx="1783080" cy="502920"/>
          </a:xfrm>
          <a:prstGeom prst="rect">
            <a:avLst/>
          </a:prstGeom>
          <a:solidFill>
            <a:srgbClr val="E8E7E0"/>
          </a:solidFill>
          <a:ln w="12700">
            <a:solidFill>
              <a:srgbClr val="CAD1C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0" y="5047488"/>
            <a:ext cx="1325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111719"/>
                </a:solidFill>
              </a:rPr>
              <a:t>context  ·  coordena estado</a:t>
            </a:r>
            <a:endParaRPr lang="en-US" sz="1030" dirty="0"/>
          </a:p>
        </p:txBody>
      </p:sp>
      <p:sp>
        <p:nvSpPr>
          <p:cNvPr id="17" name="Text 15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Estrutura real do repositório 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· RECURSOS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Componentes pequenos, estado previsível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Props levam dados; eventos disparam ações; effects sincronizam sistemas externos.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063240"/>
            <a:ext cx="6080760" cy="2578608"/>
          </a:xfrm>
          <a:prstGeom prst="rect">
            <a:avLst/>
          </a:prstGeom>
          <a:solidFill>
            <a:srgbClr val="0A1012"/>
          </a:solidFill>
          <a:ln w="10160">
            <a:solidFill>
              <a:srgbClr val="3648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3264408"/>
            <a:ext cx="560527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[tasks, dispatch] = useReducer(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tasksReducer, initialTasks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30" dirty="0"/>
          </a:p>
          <a:p>
            <a:pPr indent="0" marL="0">
              <a:buNone/>
            </a:pP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useEffect(() =&gt; {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localStorage.setItem("tasks", JSON.stringify(tasks));</a:t>
            </a:r>
            <a:endParaRPr lang="en-US" sz="1230" dirty="0"/>
          </a:p>
          <a:p>
            <a:pPr indent="0" marL="0">
              <a:buNone/>
            </a:pPr>
            <a:r>
              <a:rPr lang="en-US" sz="1230" dirty="0">
                <a:solidFill>
                  <a:srgbClr val="B9ED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}, [tasks]);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7406640" y="31272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PROPS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32520" y="312724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dados de entrada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06640" y="373989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REDUCER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32520" y="37398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próximo estado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06640" y="435254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EFFECT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732520" y="435254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persistência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06640" y="49651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798E"/>
                </a:solidFill>
              </a:rPr>
              <a:t>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732520" y="49651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719"/>
                </a:solidFill>
              </a:rPr>
              <a:t>compartilhamento</a:t>
            </a:r>
            <a:endParaRPr lang="en-US" sz="1300" dirty="0"/>
          </a:p>
        </p:txBody>
      </p:sp>
      <p:sp>
        <p:nvSpPr>
          <p:cNvPr id="15" name="Text 13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Fontes: React Hooks · código do ReactLab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· ANÁLISE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Produtividade com escolhas arquiteturais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organiza interfaces complexas, mas não entrega uma arquitetura completa sozinho.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EACAF"/>
                </a:solidFill>
              </a:rPr>
              <a:t>DIMENSÃO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800" y="3200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FB58B"/>
                </a:solidFill>
              </a:rPr>
              <a:t>FORÇA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452360" y="3200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C56B"/>
                </a:solidFill>
              </a:rPr>
              <a:t>LIMITE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58444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Aprendizagem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971800" y="35844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modelo consistente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52360" y="358444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ecossistema amplo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77056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9776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Produtividade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71800" y="397764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reuso e composição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52360" y="39776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decisões externas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270248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37083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Manutenção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971800" y="43708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componentes isoláveis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52360" y="437083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estado exige disciplina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4663440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64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Desempenho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71800" y="476402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atualização declarativa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52360" y="47640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precisa ser medido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56632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" y="515721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Ecossistema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971800" y="515721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muitas opções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452360" y="515721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mudança frequente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31520" y="5449824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55040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5F6"/>
                </a:solidFill>
              </a:rPr>
              <a:t>Complexidade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971800" y="55504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adoção gradual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452360" y="555040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5C7"/>
                </a:solidFill>
              </a:rPr>
              <a:t>não inclui backend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5843016"/>
            <a:ext cx="10561320" cy="0"/>
          </a:xfrm>
          <a:prstGeom prst="line">
            <a:avLst/>
          </a:prstGeom>
          <a:noFill/>
          <a:ln w="6350">
            <a:solidFill>
              <a:srgbClr val="34424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Síntese comparativa baseada na documentação oficial do React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· ADOÇÃO NO MERCADO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 ecossistema em escala global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Meta relata uso em mais de 50 milhões de sites e produtos.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49808" y="31272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0" b="1" dirty="0">
                <a:solidFill>
                  <a:srgbClr val="61DA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50M+</a:t>
            </a:r>
            <a:endParaRPr lang="en-US" sz="6100" dirty="0"/>
          </a:p>
        </p:txBody>
      </p:sp>
      <p:sp>
        <p:nvSpPr>
          <p:cNvPr id="6" name="Text 4"/>
          <p:cNvSpPr/>
          <p:nvPr/>
        </p:nvSpPr>
        <p:spPr>
          <a:xfrm>
            <a:off x="804672" y="4224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EF5F6"/>
                </a:solidFill>
              </a:rPr>
              <a:t>sites e produtos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669280" y="3108960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79008" y="3200400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Facebook.com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183880" y="3108960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93608" y="3200400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Microsoft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0" y="3767328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79008" y="385876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Shopify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83880" y="3767328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3858768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Bloomberg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0" y="4425696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79008" y="4517136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Discord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183880" y="4425696"/>
            <a:ext cx="214884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93608" y="4517136"/>
            <a:ext cx="19293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Coinbase</a:t>
            </a:r>
            <a:endParaRPr lang="en-US" sz="950" dirty="0"/>
          </a:p>
        </p:txBody>
      </p:sp>
      <p:sp>
        <p:nvSpPr>
          <p:cNvPr id="19" name="Text 17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Fonte: Meta Engineering — Introducing the React Foundation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· SEGURANÇA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CVE-2025-55182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Execução remota não autenticada em React Server Components. CVSS 10.0.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85800" y="3136392"/>
            <a:ext cx="1874520" cy="1993392"/>
          </a:xfrm>
          <a:prstGeom prst="rect">
            <a:avLst/>
          </a:prstGeom>
          <a:solidFill>
            <a:srgbClr val="C93D3D"/>
          </a:solidFill>
          <a:ln w="12700">
            <a:solidFill>
              <a:srgbClr val="C93D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3429000"/>
            <a:ext cx="1325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10.0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960120" y="425196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80" kern="0" dirty="0">
                <a:solidFill>
                  <a:srgbClr val="FFFFFF"/>
                </a:solidFill>
              </a:rPr>
              <a:t>CRÍTICA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63240" y="310896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ESCOPO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51960" y="310896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react-server-dom-*</a:t>
            </a:r>
            <a:endParaRPr lang="en-US" sz="1230" dirty="0"/>
          </a:p>
        </p:txBody>
      </p:sp>
      <p:sp>
        <p:nvSpPr>
          <p:cNvPr id="10" name="Shape 8"/>
          <p:cNvSpPr/>
          <p:nvPr/>
        </p:nvSpPr>
        <p:spPr>
          <a:xfrm>
            <a:off x="3063240" y="349300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63240" y="365760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AFETADAS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51960" y="365760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19.0.0 · 19.1.0 · 19.1.1 · 19.2.0</a:t>
            </a:r>
            <a:endParaRPr lang="en-US" sz="1230" dirty="0"/>
          </a:p>
        </p:txBody>
      </p:sp>
      <p:sp>
        <p:nvSpPr>
          <p:cNvPr id="13" name="Shape 11"/>
          <p:cNvSpPr/>
          <p:nvPr/>
        </p:nvSpPr>
        <p:spPr>
          <a:xfrm>
            <a:off x="3063240" y="404164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420624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PATCH INICIAL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251960" y="420624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11719"/>
                </a:solidFill>
              </a:rPr>
              <a:t>19.0.1 · 19.1.2 · 19.2.1; usar a versão atual suportada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3063240" y="459028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3240" y="4754880"/>
            <a:ext cx="1005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798E"/>
                </a:solidFill>
              </a:rPr>
              <a:t>PROJETO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51960" y="4754880"/>
            <a:ext cx="681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b="1" dirty="0">
                <a:solidFill>
                  <a:srgbClr val="111719"/>
                </a:solidFill>
              </a:rPr>
              <a:t>Vite client-side sem RSC: não afetado diretamente</a:t>
            </a:r>
            <a:endParaRPr lang="en-US" sz="1230" dirty="0"/>
          </a:p>
        </p:txBody>
      </p:sp>
      <p:sp>
        <p:nvSpPr>
          <p:cNvPr id="19" name="Shape 17"/>
          <p:cNvSpPr/>
          <p:nvPr/>
        </p:nvSpPr>
        <p:spPr>
          <a:xfrm>
            <a:off x="3063240" y="5138928"/>
            <a:ext cx="7955280" cy="0"/>
          </a:xfrm>
          <a:prstGeom prst="line">
            <a:avLst/>
          </a:prstGeom>
          <a:noFill/>
          <a:ln w="7620">
            <a:solidFill>
              <a:srgbClr val="CAD1CE"/>
            </a:solidFill>
            <a:prstDash val="solid"/>
          </a:ln>
        </p:spPr>
      </p:sp>
      <p:sp>
        <p:nvSpPr>
          <p:cNvPr id="20" name="Text 18">
            <a:hlinkClick r:id="rId1" tooltip=""/>
          </p:cNvPr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u="sng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Fonte: React Security — CVE-2025-55182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· PROJETO WEB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ReactLab une conteúdo e prática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mesma aplicação publica o seminário e demonstra estado, efeitos e rotas.</a:t>
            </a:r>
            <a:endParaRPr lang="en-US" sz="1550" dirty="0"/>
          </a:p>
        </p:txBody>
      </p:sp>
      <p:pic>
        <p:nvPicPr>
          <p:cNvPr id="5" name="Image 0" descr="Tela real da demonstração ReactLab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078992"/>
            <a:ext cx="4251960" cy="2999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3246120"/>
            <a:ext cx="207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Página pública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 HTML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Quadro de tarefas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18104" y="3246120"/>
            <a:ext cx="20756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localStorage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HashRouter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EEF5F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Layout responsivo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89320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9048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287768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97496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#/slides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586216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95944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#/demo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84664" y="5074920"/>
            <a:ext cx="1097280" cy="365760"/>
          </a:xfrm>
          <a:prstGeom prst="rect">
            <a:avLst/>
          </a:prstGeom>
          <a:solidFill>
            <a:srgbClr val="182427"/>
          </a:solidFill>
          <a:ln w="7620">
            <a:solidFill>
              <a:srgbClr val="34424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994392" y="516636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1DAFB"/>
                </a:solidFill>
              </a:rPr>
              <a:t>#/referencias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Aplicação real: github.com/luccalck/seminario-react-2ads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61DA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· DEMONSTRAÇÃO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EEF5F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 instalação à interação em 3 minutos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9EACA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público vê o código provocar uma mudança real e persistente.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7782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npm ci + npm run dev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265176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71800" y="3429000"/>
            <a:ext cx="1874520" cy="1115568"/>
          </a:xfrm>
          <a:prstGeom prst="rect">
            <a:avLst/>
          </a:prstGeom>
          <a:solidFill>
            <a:srgbClr val="123D46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1810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1810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criar e concluir tarefa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489204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5838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5838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filtrar e recarregar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713232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236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9866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9866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abrir reducer + effect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72600" y="3794760"/>
            <a:ext cx="228600" cy="320040"/>
          </a:xfrm>
          <a:prstGeom prst="chevron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692640" y="3429000"/>
            <a:ext cx="1874520" cy="1115568"/>
          </a:xfrm>
          <a:prstGeom prst="rect">
            <a:avLst/>
          </a:prstGeom>
          <a:solidFill>
            <a:srgbClr val="172326"/>
          </a:solidFill>
          <a:ln w="12700">
            <a:solidFill>
              <a:srgbClr val="3442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38944" y="358444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DAF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38944" y="3913632"/>
            <a:ext cx="1572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EEF5F6"/>
                </a:solidFill>
              </a:rPr>
              <a:t>npm run build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749808" y="512064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1DAFB"/>
                </a:solidFill>
              </a:rPr>
              <a:t>Recursos demonstrados: componentes + props · reducer · effect · rota declarativa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71808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Roteiro executável no README e em docs/ROTEIRO_DE_FALA.md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D8B8F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132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spc="160" kern="0" dirty="0">
                <a:solidFill>
                  <a:srgbClr val="1079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· CONCLUSÃO</a:t>
            </a:r>
            <a:endParaRPr lang="en-US" sz="920" dirty="0"/>
          </a:p>
        </p:txBody>
      </p:sp>
      <p:sp>
        <p:nvSpPr>
          <p:cNvPr id="3" name="Text 1"/>
          <p:cNvSpPr/>
          <p:nvPr/>
        </p:nvSpPr>
        <p:spPr>
          <a:xfrm>
            <a:off x="621792" y="1069848"/>
            <a:ext cx="65836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1171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React é uma escolha, não um padrão automático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6080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dirty="0">
                <a:solidFill>
                  <a:srgbClr val="65717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Recomendamos para interfaces interativas e evolutivas; não para toda página Web.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126480" y="2971800"/>
            <a:ext cx="0" cy="2606040"/>
          </a:xfrm>
          <a:prstGeom prst="line">
            <a:avLst/>
          </a:prstGeom>
          <a:noFill/>
          <a:ln w="12700">
            <a:solidFill>
              <a:srgbClr val="CAD1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98E"/>
                </a:solidFill>
              </a:rPr>
              <a:t>RECOMENDAR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356616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Estado e interação frequentes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Componentes compartilhados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1171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Produto que evolui por partes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3090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798E"/>
                </a:solidFill>
              </a:rPr>
              <a:t>FONTES ESSENCIAIS</a:t>
            </a:r>
            <a:endParaRPr lang="en-US" sz="11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6656832" y="3529584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react.dev/learn</a:t>
            </a:r>
            <a:endParaRPr lang="en-US" sz="970" dirty="0"/>
          </a:p>
        </p:txBody>
      </p:sp>
      <p:sp>
        <p:nvSpPr>
          <p:cNvPr id="10" name="Text 8">
            <a:hlinkClick r:id="rId2" tooltip=""/>
          </p:cNvPr>
          <p:cNvSpPr/>
          <p:nvPr/>
        </p:nvSpPr>
        <p:spPr>
          <a:xfrm>
            <a:off x="6656832" y="3840480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react.dev/versions</a:t>
            </a:r>
            <a:endParaRPr lang="en-US" sz="970" dirty="0"/>
          </a:p>
        </p:txBody>
      </p:sp>
      <p:sp>
        <p:nvSpPr>
          <p:cNvPr id="11" name="Text 9">
            <a:hlinkClick r:id="rId3" tooltip=""/>
          </p:cNvPr>
          <p:cNvSpPr/>
          <p:nvPr/>
        </p:nvSpPr>
        <p:spPr>
          <a:xfrm>
            <a:off x="6656832" y="4151376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vite.dev/guide</a:t>
            </a:r>
            <a:endParaRPr lang="en-US" sz="970" dirty="0"/>
          </a:p>
        </p:txBody>
      </p:sp>
      <p:sp>
        <p:nvSpPr>
          <p:cNvPr id="12" name="Text 10">
            <a:hlinkClick r:id="rId4" tooltip=""/>
          </p:cNvPr>
          <p:cNvSpPr/>
          <p:nvPr/>
        </p:nvSpPr>
        <p:spPr>
          <a:xfrm>
            <a:off x="6656832" y="4462272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— CVE-2025-55182</a:t>
            </a:r>
            <a:endParaRPr lang="en-US" sz="97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6656832" y="4773168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docs.github.com/pages</a:t>
            </a:r>
            <a:endParaRPr lang="en-US" sz="970" dirty="0"/>
          </a:p>
        </p:txBody>
      </p:sp>
      <p:sp>
        <p:nvSpPr>
          <p:cNvPr id="14" name="Text 12">
            <a:hlinkClick r:id="rId6" tooltip=""/>
          </p:cNvPr>
          <p:cNvSpPr/>
          <p:nvPr/>
        </p:nvSpPr>
        <p:spPr>
          <a:xfrm>
            <a:off x="6656832" y="5084064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u="sng" dirty="0">
                <a:solidFill>
                  <a:srgbClr val="111719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reactrouter.com/HashRouter</a:t>
            </a:r>
            <a:endParaRPr lang="en-US" sz="970" dirty="0"/>
          </a:p>
        </p:txBody>
      </p:sp>
      <p:sp>
        <p:nvSpPr>
          <p:cNvPr id="15" name="Text 13">
            <a:hlinkClick r:id="rId7" tooltip=""/>
          </p:cNvPr>
          <p:cNvSpPr/>
          <p:nvPr/>
        </p:nvSpPr>
        <p:spPr>
          <a:xfrm>
            <a:off x="731520" y="5715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10798E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github.com/luccalck/seminario-react-2ads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3504" y="6510528"/>
            <a:ext cx="9875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97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Todas as referências completas estão no README e na página pública.</a:t>
            </a:r>
            <a:endParaRPr lang="en-US" sz="7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37392" y="13716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00">
                <a:solidFill>
                  <a:srgbClr val="718083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SENAI Félix Guisard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— interfaces Web baseadas em componentes</dc:title>
  <dc:subject>Seminário de Frameworks Front-end — React</dc:subject>
  <dc:creator>João Gabriel; João Pedro Fonseca; Lucas Souza; Miguel Oliveira; Davi Souza; Lucca Castilho; Pedro de Lima; Renan Ramos</dc:creator>
  <cp:lastModifiedBy>João Gabriel; João Pedro Fonseca; Lucas Souza; Miguel Oliveira; Davi Souza; Lucca Castilho; Pedro de Lima; Renan Ramos</cp:lastModifiedBy>
  <cp:revision>1</cp:revision>
  <dcterms:created xsi:type="dcterms:W3CDTF">2026-09-22T03:19:48Z</dcterms:created>
  <dcterms:modified xsi:type="dcterms:W3CDTF">2026-09-22T03:19:48Z</dcterms:modified>
</cp:coreProperties>
</file>