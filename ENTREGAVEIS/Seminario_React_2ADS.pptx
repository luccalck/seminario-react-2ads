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QuattrocentoSans-regular.fntdata"/><Relationship Id="rId23" Type="http://schemas.openxmlformats.org/officeDocument/2006/relationships/font" Target="fonts/QuattrocentoSans-bold.fntdata"/><Relationship Id="rId24" Type="http://schemas.openxmlformats.org/officeDocument/2006/relationships/font" Target="fonts/QuattrocentoSans-italic.fntdata"/><Relationship Id="rId25" Type="http://schemas.openxmlformats.org/officeDocument/2006/relationships/font" Target="fonts/Quattrocento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h1d751a624291aff8_2_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h1d751a624291aff8_2_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1d751a624291aff8_2_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1d751a624291aff8_2_4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h1d751a624291aff8_2_49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h1d751a624291aff8_2_4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d751a624291aff8_2_7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h1d751a624291aff8_2_7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h1d751a624291aff8_2_7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1d751a624291aff8_2_10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h1d751a624291aff8_2_10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h1d751a624291aff8_2_10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1d751a624291aff8_2_13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h1d751a624291aff8_2_13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h1d751a624291aff8_2_13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1d751a624291aff8_2_16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h1d751a624291aff8_2_16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h1d751a624291aff8_2_16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1d751a624291aff8_2_19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h1d751a624291aff8_2_19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h1d751a624291aff8_2_19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1d751a624291aff8_2_22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h1d751a624291aff8_2_22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h1d751a624291aff8_2_22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1d751a624291aff8_2_25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h1d751a624291aff8_2_25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h1d751a624291aff8_2_25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1d751a624291aff8_2_28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h1d751a624291aff8_2_28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h1d751a624291aff8_2_28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1d751a624291aff8_2_31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h1d751a624291aff8_2_31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h1d751a624291aff8_2_31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h1d751a624291aff8_2_34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h1d751a624291aff8_2_349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h1d751a624291aff8_2_34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h1d751a624291aff8_2_37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h1d751a624291aff8_2_37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h1d751a624291aff8_2_37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1d751a624291aff8_2_40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h1d751a624291aff8_2_40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h1d751a624291aff8_2_40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h1d751a624291aff8_2_4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h1d751a624291aff8_2_43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h1d751a624291aff8_2_4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5401384" y="1094600"/>
            <a:ext cx="2948400" cy="2948400"/>
          </a:xfrm>
          <a:prstGeom prst="ellipse">
            <a:avLst/>
          </a:prstGeom>
          <a:solidFill>
            <a:srgbClr val="61DAFB">
              <a:alpha val="5098"/>
            </a:srgbClr>
          </a:solidFill>
          <a:ln cap="flat" cmpd="sng" w="1092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75" lIns="58975" spcFirstLastPara="1" rIns="58975" wrap="square" tIns="5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6"/>
          <p:cNvSpPr/>
          <p:nvPr/>
        </p:nvSpPr>
        <p:spPr>
          <a:xfrm>
            <a:off x="5637258" y="1330472"/>
            <a:ext cx="2476500" cy="2476500"/>
          </a:xfrm>
          <a:prstGeom prst="ellipse">
            <a:avLst/>
          </a:prstGeom>
          <a:solidFill>
            <a:srgbClr val="61DAFB">
              <a:alpha val="7059"/>
            </a:srgbClr>
          </a:solidFill>
          <a:ln cap="flat" cmpd="sng" w="1092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75" lIns="58975" spcFirstLastPara="1" rIns="58975" wrap="square" tIns="5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6"/>
          <p:cNvSpPr/>
          <p:nvPr/>
        </p:nvSpPr>
        <p:spPr>
          <a:xfrm>
            <a:off x="5873131" y="1566345"/>
            <a:ext cx="2004900" cy="20049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1092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75" lIns="58975" spcFirstLastPara="1" rIns="58975" wrap="square" tIns="5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6079520" y="1772733"/>
            <a:ext cx="1592100" cy="15921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1092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75" lIns="58975" spcFirstLastPara="1" rIns="58975" wrap="square" tIns="5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FRAMEWORKS FRONT-END · 2º ADS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01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ReactLab · 2º ADS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7694676" y="4937760"/>
            <a:ext cx="849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782464" y="1108383"/>
            <a:ext cx="43926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003"/>
              <a:buFont typeface="Quattrocento Sans"/>
              <a:buNone/>
            </a:pPr>
            <a:r>
              <a:rPr b="1" i="0" lang="pt-BR" sz="400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</a:t>
            </a:r>
            <a:endParaRPr b="0" i="0" sz="400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782439" y="1805022"/>
            <a:ext cx="5177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258"/>
              <a:buFont typeface="Quattrocento Sans"/>
              <a:buNone/>
            </a:pPr>
            <a:r>
              <a:rPr b="0" i="0" lang="pt-BR" sz="1258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Interfaces Web baseadas em componentes.</a:t>
            </a:r>
            <a:endParaRPr b="0" i="0" sz="12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9" name="Google Shape;69;p16"/>
          <p:cNvCxnSpPr/>
          <p:nvPr/>
        </p:nvCxnSpPr>
        <p:spPr>
          <a:xfrm>
            <a:off x="782429" y="2185484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16"/>
          <p:cNvSpPr/>
          <p:nvPr/>
        </p:nvSpPr>
        <p:spPr>
          <a:xfrm>
            <a:off x="841499" y="2150163"/>
            <a:ext cx="24708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29"/>
              <a:buFont typeface="Quattrocento Sans"/>
              <a:buNone/>
            </a:pPr>
            <a:r>
              <a:rPr b="0" i="0" lang="pt-BR" sz="1029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Pesquisa técnica</a:t>
            </a:r>
            <a:endParaRPr b="0" i="0" sz="1029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1" name="Google Shape;71;p16"/>
          <p:cNvCxnSpPr/>
          <p:nvPr/>
        </p:nvCxnSpPr>
        <p:spPr>
          <a:xfrm>
            <a:off x="2773683" y="2201151"/>
            <a:ext cx="0" cy="141300"/>
          </a:xfrm>
          <a:prstGeom prst="straightConnector1">
            <a:avLst/>
          </a:prstGeom>
          <a:noFill/>
          <a:ln cap="flat" cmpd="sng" w="218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6"/>
          <p:cNvSpPr/>
          <p:nvPr/>
        </p:nvSpPr>
        <p:spPr>
          <a:xfrm>
            <a:off x="2852124" y="2185463"/>
            <a:ext cx="24708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29"/>
              <a:buFont typeface="Quattrocento Sans"/>
              <a:buNone/>
            </a:pPr>
            <a:r>
              <a:rPr b="0" i="0" lang="pt-BR" sz="1029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Aplicação funcional</a:t>
            </a:r>
            <a:endParaRPr b="0" i="0" sz="1029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3" name="Google Shape;73;p16"/>
          <p:cNvCxnSpPr/>
          <p:nvPr/>
        </p:nvCxnSpPr>
        <p:spPr>
          <a:xfrm>
            <a:off x="782454" y="2388396"/>
            <a:ext cx="0" cy="123300"/>
          </a:xfrm>
          <a:prstGeom prst="straightConnector1">
            <a:avLst/>
          </a:prstGeom>
          <a:noFill/>
          <a:ln cap="flat" cmpd="sng" w="190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6"/>
          <p:cNvSpPr/>
          <p:nvPr/>
        </p:nvSpPr>
        <p:spPr>
          <a:xfrm>
            <a:off x="841499" y="2361954"/>
            <a:ext cx="24708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29"/>
              <a:buFont typeface="Quattrocento Sans"/>
              <a:buNone/>
            </a:pPr>
            <a:r>
              <a:rPr b="0" i="0" lang="pt-BR" sz="1029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Demonstração ao vivo</a:t>
            </a:r>
            <a:endParaRPr b="0" i="0" sz="1029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770813" y="2885561"/>
            <a:ext cx="21474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745"/>
              <a:buFont typeface="Consolas"/>
              <a:buNone/>
            </a:pPr>
            <a:r>
              <a:rPr b="1" i="0" lang="pt-BR" sz="945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INTEGRANTES</a:t>
            </a:r>
            <a:endParaRPr b="0" i="0" sz="945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6" name="Google Shape;76;p16"/>
          <p:cNvCxnSpPr/>
          <p:nvPr/>
        </p:nvCxnSpPr>
        <p:spPr>
          <a:xfrm>
            <a:off x="782457" y="3112439"/>
            <a:ext cx="0" cy="160800"/>
          </a:xfrm>
          <a:prstGeom prst="straightConnector1">
            <a:avLst/>
          </a:prstGeom>
          <a:noFill/>
          <a:ln cap="flat" cmpd="sng" w="248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6"/>
          <p:cNvSpPr/>
          <p:nvPr/>
        </p:nvSpPr>
        <p:spPr>
          <a:xfrm>
            <a:off x="884689" y="3068198"/>
            <a:ext cx="32208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895"/>
              <a:buFont typeface="Quattrocento Sans"/>
              <a:buNone/>
            </a:pPr>
            <a:r>
              <a:rPr b="0" i="0" lang="pt-BR" sz="895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Lucca Castilho</a:t>
            </a:r>
            <a:endParaRPr b="0" i="0" sz="895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8" name="Google Shape;78;p16"/>
          <p:cNvCxnSpPr/>
          <p:nvPr/>
        </p:nvCxnSpPr>
        <p:spPr>
          <a:xfrm>
            <a:off x="2773682" y="3104355"/>
            <a:ext cx="0" cy="184200"/>
          </a:xfrm>
          <a:prstGeom prst="straightConnector1">
            <a:avLst/>
          </a:prstGeom>
          <a:noFill/>
          <a:ln cap="flat" cmpd="sng" w="284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6"/>
          <p:cNvSpPr/>
          <p:nvPr/>
        </p:nvSpPr>
        <p:spPr>
          <a:xfrm>
            <a:off x="2875930" y="3083906"/>
            <a:ext cx="32208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895"/>
              <a:buFont typeface="Quattrocento Sans"/>
              <a:buNone/>
            </a:pPr>
            <a:r>
              <a:rPr b="0" i="0" lang="pt-BR" sz="895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João Gabriel</a:t>
            </a:r>
            <a:endParaRPr b="0" i="0" sz="895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0" name="Google Shape;80;p16"/>
          <p:cNvCxnSpPr/>
          <p:nvPr/>
        </p:nvCxnSpPr>
        <p:spPr>
          <a:xfrm>
            <a:off x="782457" y="3333202"/>
            <a:ext cx="0" cy="160800"/>
          </a:xfrm>
          <a:prstGeom prst="straightConnector1">
            <a:avLst/>
          </a:prstGeom>
          <a:noFill/>
          <a:ln cap="flat" cmpd="sng" w="248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6"/>
          <p:cNvSpPr/>
          <p:nvPr/>
        </p:nvSpPr>
        <p:spPr>
          <a:xfrm>
            <a:off x="884689" y="3303369"/>
            <a:ext cx="32208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895"/>
              <a:buFont typeface="Quattrocento Sans"/>
              <a:buNone/>
            </a:pPr>
            <a:r>
              <a:rPr b="0" i="0" lang="pt-BR" sz="895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Miguel Oliveira</a:t>
            </a:r>
            <a:endParaRPr b="0" i="0" sz="895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2" name="Google Shape;82;p16"/>
          <p:cNvCxnSpPr/>
          <p:nvPr/>
        </p:nvCxnSpPr>
        <p:spPr>
          <a:xfrm>
            <a:off x="2773682" y="3339525"/>
            <a:ext cx="0" cy="184200"/>
          </a:xfrm>
          <a:prstGeom prst="straightConnector1">
            <a:avLst/>
          </a:prstGeom>
          <a:noFill/>
          <a:ln cap="flat" cmpd="sng" w="284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6"/>
          <p:cNvSpPr/>
          <p:nvPr/>
        </p:nvSpPr>
        <p:spPr>
          <a:xfrm>
            <a:off x="2875930" y="3319076"/>
            <a:ext cx="32208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895"/>
              <a:buFont typeface="Quattrocento Sans"/>
              <a:buNone/>
            </a:pPr>
            <a:r>
              <a:rPr b="0" i="0" lang="pt-BR" sz="895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Lucas Souza</a:t>
            </a:r>
            <a:endParaRPr b="0" i="0" sz="895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4" name="Google Shape;84;p16"/>
          <p:cNvCxnSpPr/>
          <p:nvPr/>
        </p:nvCxnSpPr>
        <p:spPr>
          <a:xfrm>
            <a:off x="782457" y="3569122"/>
            <a:ext cx="0" cy="160800"/>
          </a:xfrm>
          <a:prstGeom prst="straightConnector1">
            <a:avLst/>
          </a:prstGeom>
          <a:noFill/>
          <a:ln cap="flat" cmpd="sng" w="248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6"/>
          <p:cNvSpPr/>
          <p:nvPr/>
        </p:nvSpPr>
        <p:spPr>
          <a:xfrm>
            <a:off x="884689" y="3538539"/>
            <a:ext cx="32208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895"/>
              <a:buFont typeface="Quattrocento Sans"/>
              <a:buNone/>
            </a:pPr>
            <a:r>
              <a:rPr b="0" i="0" lang="pt-BR" sz="895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Davi Souza</a:t>
            </a:r>
            <a:endParaRPr b="0" i="0" sz="895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773682" y="3574695"/>
            <a:ext cx="0" cy="184200"/>
          </a:xfrm>
          <a:prstGeom prst="straightConnector1">
            <a:avLst/>
          </a:prstGeom>
          <a:noFill/>
          <a:ln cap="flat" cmpd="sng" w="284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6"/>
          <p:cNvSpPr/>
          <p:nvPr/>
        </p:nvSpPr>
        <p:spPr>
          <a:xfrm>
            <a:off x="2875930" y="3554246"/>
            <a:ext cx="32208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895"/>
              <a:buFont typeface="Quattrocento Sans"/>
              <a:buNone/>
            </a:pPr>
            <a:r>
              <a:rPr b="0" i="0" lang="pt-BR" sz="895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João Pedro Fonseca</a:t>
            </a:r>
            <a:endParaRPr b="0" i="0" sz="895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8" name="Google Shape;88;p16"/>
          <p:cNvCxnSpPr/>
          <p:nvPr/>
        </p:nvCxnSpPr>
        <p:spPr>
          <a:xfrm>
            <a:off x="782457" y="3799991"/>
            <a:ext cx="0" cy="160800"/>
          </a:xfrm>
          <a:prstGeom prst="straightConnector1">
            <a:avLst/>
          </a:prstGeom>
          <a:noFill/>
          <a:ln cap="flat" cmpd="sng" w="248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6"/>
          <p:cNvSpPr/>
          <p:nvPr/>
        </p:nvSpPr>
        <p:spPr>
          <a:xfrm>
            <a:off x="884689" y="3773709"/>
            <a:ext cx="32208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895"/>
              <a:buFont typeface="Quattrocento Sans"/>
              <a:buNone/>
            </a:pPr>
            <a:r>
              <a:rPr b="0" i="0" lang="pt-BR" sz="895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Renan Ramos</a:t>
            </a:r>
            <a:endParaRPr b="0" i="0" sz="895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90" name="Google Shape;90;p16"/>
          <p:cNvCxnSpPr/>
          <p:nvPr/>
        </p:nvCxnSpPr>
        <p:spPr>
          <a:xfrm>
            <a:off x="2773682" y="3809866"/>
            <a:ext cx="0" cy="184200"/>
          </a:xfrm>
          <a:prstGeom prst="straightConnector1">
            <a:avLst/>
          </a:prstGeom>
          <a:noFill/>
          <a:ln cap="flat" cmpd="sng" w="284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16"/>
          <p:cNvSpPr/>
          <p:nvPr/>
        </p:nvSpPr>
        <p:spPr>
          <a:xfrm>
            <a:off x="2875930" y="3789416"/>
            <a:ext cx="32208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895"/>
              <a:buFont typeface="Quattrocento Sans"/>
              <a:buNone/>
            </a:pPr>
            <a:r>
              <a:rPr b="0" i="0" lang="pt-BR" sz="895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Pedro de Lima</a:t>
            </a:r>
            <a:endParaRPr b="0" i="0" sz="895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413178" y="1100497"/>
            <a:ext cx="2948400" cy="2948400"/>
          </a:xfrm>
          <a:prstGeom prst="ellipse">
            <a:avLst/>
          </a:prstGeom>
          <a:solidFill>
            <a:srgbClr val="61DAFB">
              <a:alpha val="5098"/>
            </a:srgbClr>
          </a:solidFill>
          <a:ln cap="flat" cmpd="sng" w="1092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75" lIns="58975" spcFirstLastPara="1" rIns="58975" wrap="square" tIns="5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4"/>
          </a:p>
        </p:txBody>
      </p:sp>
      <p:sp>
        <p:nvSpPr>
          <p:cNvPr id="93" name="Google Shape;93;p16"/>
          <p:cNvSpPr/>
          <p:nvPr/>
        </p:nvSpPr>
        <p:spPr>
          <a:xfrm>
            <a:off x="5649051" y="1336369"/>
            <a:ext cx="2476500" cy="2476500"/>
          </a:xfrm>
          <a:prstGeom prst="ellipse">
            <a:avLst/>
          </a:prstGeom>
          <a:solidFill>
            <a:srgbClr val="61DAFB">
              <a:alpha val="7059"/>
            </a:srgbClr>
          </a:solidFill>
          <a:ln cap="flat" cmpd="sng" w="1092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75" lIns="58975" spcFirstLastPara="1" rIns="58975" wrap="square" tIns="5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5884925" y="1572241"/>
            <a:ext cx="2004900" cy="20049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1092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75" lIns="58975" spcFirstLastPara="1" rIns="58975" wrap="square" tIns="5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6091314" y="1778630"/>
            <a:ext cx="1592100" cy="15921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1092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75" lIns="58975" spcFirstLastPara="1" rIns="58975" wrap="square" tIns="5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5797926" y="2145313"/>
            <a:ext cx="2167200" cy="768000"/>
          </a:xfrm>
          <a:prstGeom prst="ellipse">
            <a:avLst/>
          </a:prstGeom>
          <a:solidFill>
            <a:srgbClr val="151D20">
              <a:alpha val="0"/>
            </a:srgbClr>
          </a:solidFill>
          <a:ln cap="flat" cmpd="sng" w="304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 rot="3599960">
            <a:off x="5797975" y="2145346"/>
            <a:ext cx="2167156" cy="767993"/>
          </a:xfrm>
          <a:prstGeom prst="ellipse">
            <a:avLst/>
          </a:prstGeom>
          <a:solidFill>
            <a:srgbClr val="151D20">
              <a:alpha val="0"/>
            </a:srgbClr>
          </a:solidFill>
          <a:ln cap="flat" cmpd="sng" w="304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 rot="7200040">
            <a:off x="5797939" y="2145394"/>
            <a:ext cx="2167156" cy="767993"/>
          </a:xfrm>
          <a:prstGeom prst="ellipse">
            <a:avLst/>
          </a:prstGeom>
          <a:solidFill>
            <a:srgbClr val="151D20">
              <a:alpha val="0"/>
            </a:srgbClr>
          </a:solidFill>
          <a:ln cap="flat" cmpd="sng" w="304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6703182" y="2393405"/>
            <a:ext cx="356700" cy="356700"/>
          </a:xfrm>
          <a:prstGeom prst="ellipse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2700000" dist="12700">
              <a:srgbClr val="61DAFB">
                <a:alpha val="3411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6562437" y="1550100"/>
            <a:ext cx="2043300" cy="2043300"/>
          </a:xfrm>
          <a:prstGeom prst="ellipse">
            <a:avLst/>
          </a:prstGeom>
          <a:solidFill>
            <a:srgbClr val="61DAFB">
              <a:alpha val="5098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106" name="Google Shape;106;p17"/>
          <p:cNvSpPr/>
          <p:nvPr/>
        </p:nvSpPr>
        <p:spPr>
          <a:xfrm>
            <a:off x="6725893" y="1713555"/>
            <a:ext cx="1716300" cy="1716300"/>
          </a:xfrm>
          <a:prstGeom prst="ellipse">
            <a:avLst/>
          </a:prstGeom>
          <a:solidFill>
            <a:srgbClr val="61DAFB">
              <a:alpha val="7059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6889348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7032371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02 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· DEFINIÇÃO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02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react.dev/learn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7694676" y="4937760"/>
            <a:ext cx="1701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6729694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i="0" lang="pt-BR" sz="4317" u="none" cap="none" strike="noStrike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729584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i="0" lang="pt-BR" sz="982" u="none" cap="none" strike="noStrike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DEFINIÇÃO</a:t>
            </a:r>
            <a:endParaRPr b="0" i="0" sz="982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714399" y="1575973"/>
            <a:ext cx="56922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 biblioteca para construir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interfaces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721261" y="2692310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1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descreve a interface como função do estado.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18" name="Google Shape;118;p17"/>
          <p:cNvCxnSpPr/>
          <p:nvPr/>
        </p:nvCxnSpPr>
        <p:spPr>
          <a:xfrm>
            <a:off x="721247" y="3080364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7"/>
          <p:cNvSpPr/>
          <p:nvPr/>
        </p:nvSpPr>
        <p:spPr>
          <a:xfrm>
            <a:off x="809794" y="3062655"/>
            <a:ext cx="33291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JavaScript de código aberto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20" name="Google Shape;120;p17"/>
          <p:cNvCxnSpPr/>
          <p:nvPr/>
        </p:nvCxnSpPr>
        <p:spPr>
          <a:xfrm>
            <a:off x="2956979" y="3098052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17"/>
          <p:cNvSpPr/>
          <p:nvPr/>
        </p:nvSpPr>
        <p:spPr>
          <a:xfrm>
            <a:off x="3045526" y="3080343"/>
            <a:ext cx="34710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Componentes reutilizáveis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22" name="Google Shape;122;p17"/>
          <p:cNvCxnSpPr/>
          <p:nvPr/>
        </p:nvCxnSpPr>
        <p:spPr>
          <a:xfrm>
            <a:off x="721247" y="3354853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7"/>
          <p:cNvSpPr/>
          <p:nvPr/>
        </p:nvSpPr>
        <p:spPr>
          <a:xfrm>
            <a:off x="809794" y="3337144"/>
            <a:ext cx="33291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Camada de apresentação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24" name="Google Shape;124;p17"/>
          <p:cNvCxnSpPr/>
          <p:nvPr/>
        </p:nvCxnSpPr>
        <p:spPr>
          <a:xfrm>
            <a:off x="2956979" y="3372542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17"/>
          <p:cNvSpPr/>
          <p:nvPr/>
        </p:nvSpPr>
        <p:spPr>
          <a:xfrm>
            <a:off x="3045526" y="3354833"/>
            <a:ext cx="34710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Renderização declarativa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EVOLUÇÃO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03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react.dev/versions · react.dev/blog/2026/02/24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7694676" y="4937760"/>
            <a:ext cx="2550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436161" y="1637779"/>
            <a:ext cx="5692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3200"/>
              <a:buFont typeface="Quattrocento Sans"/>
              <a:buNone/>
            </a:pPr>
            <a:r>
              <a:rPr b="1" i="0" lang="pt-BR" sz="32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2013 à React Foundation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36161" y="2249921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0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Criado por Jordan Walke no Facebook; hoje pertence à React Foundation e é mantido com a comunidade.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38" name="Google Shape;138;p18"/>
          <p:cNvCxnSpPr/>
          <p:nvPr/>
        </p:nvCxnSpPr>
        <p:spPr>
          <a:xfrm>
            <a:off x="443048" y="2791901"/>
            <a:ext cx="0" cy="149400"/>
          </a:xfrm>
          <a:prstGeom prst="straightConnector1">
            <a:avLst/>
          </a:prstGeom>
          <a:noFill/>
          <a:ln cap="flat" cmpd="sng" w="230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18"/>
          <p:cNvSpPr/>
          <p:nvPr/>
        </p:nvSpPr>
        <p:spPr>
          <a:xfrm>
            <a:off x="526055" y="2775300"/>
            <a:ext cx="31212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68"/>
              <a:buFont typeface="Quattrocento Sans"/>
              <a:buNone/>
            </a:pPr>
            <a:r>
              <a:rPr b="0" i="0" lang="pt-BR" sz="96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2013 · lançamento público</a:t>
            </a:r>
            <a:endParaRPr b="0" i="0" sz="96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2618681" y="2808501"/>
            <a:ext cx="0" cy="149400"/>
          </a:xfrm>
          <a:prstGeom prst="straightConnector1">
            <a:avLst/>
          </a:prstGeom>
          <a:noFill/>
          <a:ln cap="flat" cmpd="sng" w="230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18"/>
          <p:cNvSpPr/>
          <p:nvPr/>
        </p:nvSpPr>
        <p:spPr>
          <a:xfrm>
            <a:off x="2701689" y="2791900"/>
            <a:ext cx="32538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68"/>
              <a:buFont typeface="Quattrocento Sans"/>
              <a:buNone/>
            </a:pPr>
            <a:r>
              <a:rPr b="0" i="0" lang="pt-BR" sz="96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2017 · Fiber</a:t>
            </a:r>
            <a:endParaRPr b="0" i="0" sz="96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42" name="Google Shape;142;p18"/>
          <p:cNvCxnSpPr/>
          <p:nvPr/>
        </p:nvCxnSpPr>
        <p:spPr>
          <a:xfrm>
            <a:off x="443048" y="3049219"/>
            <a:ext cx="0" cy="149400"/>
          </a:xfrm>
          <a:prstGeom prst="straightConnector1">
            <a:avLst/>
          </a:prstGeom>
          <a:noFill/>
          <a:ln cap="flat" cmpd="sng" w="230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18"/>
          <p:cNvSpPr/>
          <p:nvPr/>
        </p:nvSpPr>
        <p:spPr>
          <a:xfrm>
            <a:off x="526055" y="3032618"/>
            <a:ext cx="31212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68"/>
              <a:buFont typeface="Quattrocento Sans"/>
              <a:buNone/>
            </a:pPr>
            <a:r>
              <a:rPr b="0" i="0" lang="pt-BR" sz="96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2019 · Hooks</a:t>
            </a:r>
            <a:endParaRPr b="0" i="0" sz="96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44" name="Google Shape;144;p18"/>
          <p:cNvCxnSpPr/>
          <p:nvPr/>
        </p:nvCxnSpPr>
        <p:spPr>
          <a:xfrm>
            <a:off x="2618681" y="3065819"/>
            <a:ext cx="0" cy="149400"/>
          </a:xfrm>
          <a:prstGeom prst="straightConnector1">
            <a:avLst/>
          </a:prstGeom>
          <a:noFill/>
          <a:ln cap="flat" cmpd="sng" w="230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8"/>
          <p:cNvSpPr/>
          <p:nvPr/>
        </p:nvSpPr>
        <p:spPr>
          <a:xfrm>
            <a:off x="2701689" y="3049218"/>
            <a:ext cx="32538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68"/>
              <a:buFont typeface="Quattrocento Sans"/>
              <a:buNone/>
            </a:pPr>
            <a:r>
              <a:rPr b="0" i="0" lang="pt-BR" sz="96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2022 · React 18</a:t>
            </a:r>
            <a:endParaRPr b="0" i="0" sz="96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46" name="Google Shape;146;p18"/>
          <p:cNvCxnSpPr/>
          <p:nvPr/>
        </p:nvCxnSpPr>
        <p:spPr>
          <a:xfrm>
            <a:off x="443048" y="3306537"/>
            <a:ext cx="0" cy="149400"/>
          </a:xfrm>
          <a:prstGeom prst="straightConnector1">
            <a:avLst/>
          </a:prstGeom>
          <a:noFill/>
          <a:ln cap="flat" cmpd="sng" w="230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8"/>
          <p:cNvSpPr/>
          <p:nvPr/>
        </p:nvSpPr>
        <p:spPr>
          <a:xfrm>
            <a:off x="526055" y="3289936"/>
            <a:ext cx="31212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68"/>
              <a:buFont typeface="Quattrocento Sans"/>
              <a:buNone/>
            </a:pPr>
            <a:r>
              <a:rPr b="0" i="0" lang="pt-BR" sz="96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2024 · React 19</a:t>
            </a:r>
            <a:endParaRPr b="0" i="0" sz="96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48" name="Google Shape;148;p18"/>
          <p:cNvCxnSpPr/>
          <p:nvPr/>
        </p:nvCxnSpPr>
        <p:spPr>
          <a:xfrm>
            <a:off x="2618681" y="3323137"/>
            <a:ext cx="0" cy="149400"/>
          </a:xfrm>
          <a:prstGeom prst="straightConnector1">
            <a:avLst/>
          </a:prstGeom>
          <a:noFill/>
          <a:ln cap="flat" cmpd="sng" w="230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8"/>
          <p:cNvSpPr/>
          <p:nvPr/>
        </p:nvSpPr>
        <p:spPr>
          <a:xfrm>
            <a:off x="2701689" y="3306536"/>
            <a:ext cx="32538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68"/>
              <a:buFont typeface="Quattrocento Sans"/>
              <a:buNone/>
            </a:pPr>
            <a:r>
              <a:rPr b="0" i="0" lang="pt-BR" sz="96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 · Foundation + 19.3</a:t>
            </a:r>
            <a:endParaRPr b="0" i="0" sz="96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6580088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151" name="Google Shape;151;p18"/>
          <p:cNvSpPr/>
          <p:nvPr/>
        </p:nvSpPr>
        <p:spPr>
          <a:xfrm>
            <a:off x="6743544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6906999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7050022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747345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i="0" lang="pt-BR" sz="4317" u="none" cap="none" strike="noStrike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747235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EVOLUÇÃO</a:t>
            </a:r>
            <a:endParaRPr b="0" i="0" sz="982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DECISÃO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04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react.dev/learn/creating-a-react-app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7694676" y="4937760"/>
            <a:ext cx="3402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482686" y="1550093"/>
            <a:ext cx="56922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faz sentido quando a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interface muda muito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89586" y="2468558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0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Complexidade de estado e reutilização justificam a biblioteca.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489573" y="2957449"/>
            <a:ext cx="0" cy="146100"/>
          </a:xfrm>
          <a:prstGeom prst="straightConnector1">
            <a:avLst/>
          </a:prstGeom>
          <a:noFill/>
          <a:ln cap="flat" cmpd="sng" w="225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9"/>
          <p:cNvSpPr/>
          <p:nvPr/>
        </p:nvSpPr>
        <p:spPr>
          <a:xfrm>
            <a:off x="570810" y="2941202"/>
            <a:ext cx="30546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48"/>
              <a:buFont typeface="Quattrocento Sans"/>
              <a:buNone/>
            </a:pPr>
            <a:r>
              <a:rPr b="0" i="0" lang="pt-BR" sz="94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SPAs e painéis</a:t>
            </a:r>
            <a:endParaRPr b="0" i="0" sz="94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70" name="Google Shape;170;p19"/>
          <p:cNvCxnSpPr/>
          <p:nvPr/>
        </p:nvCxnSpPr>
        <p:spPr>
          <a:xfrm>
            <a:off x="3202182" y="2957449"/>
            <a:ext cx="0" cy="146100"/>
          </a:xfrm>
          <a:prstGeom prst="straightConnector1">
            <a:avLst/>
          </a:prstGeom>
          <a:noFill/>
          <a:ln cap="flat" cmpd="sng" w="225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9"/>
          <p:cNvSpPr/>
          <p:nvPr/>
        </p:nvSpPr>
        <p:spPr>
          <a:xfrm>
            <a:off x="3283419" y="2941202"/>
            <a:ext cx="31845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48"/>
              <a:buFont typeface="Quattrocento Sans"/>
              <a:buNone/>
            </a:pPr>
            <a:r>
              <a:rPr b="0" i="0" lang="pt-BR" sz="94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systems</a:t>
            </a:r>
            <a:endParaRPr b="0" i="0" sz="94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72" name="Google Shape;172;p19"/>
          <p:cNvCxnSpPr/>
          <p:nvPr/>
        </p:nvCxnSpPr>
        <p:spPr>
          <a:xfrm>
            <a:off x="489573" y="3209279"/>
            <a:ext cx="0" cy="146100"/>
          </a:xfrm>
          <a:prstGeom prst="straightConnector1">
            <a:avLst/>
          </a:prstGeom>
          <a:noFill/>
          <a:ln cap="flat" cmpd="sng" w="225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19"/>
          <p:cNvSpPr/>
          <p:nvPr/>
        </p:nvSpPr>
        <p:spPr>
          <a:xfrm>
            <a:off x="570810" y="3193032"/>
            <a:ext cx="30546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48"/>
              <a:buFont typeface="Quattrocento Sans"/>
              <a:buNone/>
            </a:pPr>
            <a:r>
              <a:rPr b="0" i="0" lang="pt-BR" sz="94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Fluxos interativos</a:t>
            </a:r>
            <a:endParaRPr b="0" i="0" sz="94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74" name="Google Shape;174;p19"/>
          <p:cNvCxnSpPr/>
          <p:nvPr/>
        </p:nvCxnSpPr>
        <p:spPr>
          <a:xfrm>
            <a:off x="3202182" y="3209279"/>
            <a:ext cx="0" cy="146100"/>
          </a:xfrm>
          <a:prstGeom prst="straightConnector1">
            <a:avLst/>
          </a:prstGeom>
          <a:noFill/>
          <a:ln cap="flat" cmpd="sng" w="225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19"/>
          <p:cNvSpPr/>
          <p:nvPr/>
        </p:nvSpPr>
        <p:spPr>
          <a:xfrm>
            <a:off x="3283419" y="3193032"/>
            <a:ext cx="31845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48"/>
              <a:buFont typeface="Quattrocento Sans"/>
              <a:buNone/>
            </a:pPr>
            <a:r>
              <a:rPr b="0" i="0" lang="pt-BR" sz="94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Adoção gradual</a:t>
            </a:r>
            <a:endParaRPr b="0" i="0" sz="94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76" name="Google Shape;176;p19"/>
          <p:cNvCxnSpPr/>
          <p:nvPr/>
        </p:nvCxnSpPr>
        <p:spPr>
          <a:xfrm>
            <a:off x="489573" y="3461109"/>
            <a:ext cx="0" cy="146100"/>
          </a:xfrm>
          <a:prstGeom prst="straightConnector1">
            <a:avLst/>
          </a:prstGeom>
          <a:noFill/>
          <a:ln cap="flat" cmpd="sng" w="225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19"/>
          <p:cNvSpPr/>
          <p:nvPr/>
        </p:nvSpPr>
        <p:spPr>
          <a:xfrm>
            <a:off x="570810" y="3444862"/>
            <a:ext cx="30546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48"/>
              <a:buFont typeface="Quattrocento Sans"/>
              <a:buNone/>
            </a:pPr>
            <a:r>
              <a:rPr b="0" i="0" lang="pt-BR" sz="94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HTML/CSS basta em páginas simples</a:t>
            </a:r>
            <a:endParaRPr b="0" i="0" sz="94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78" name="Google Shape;178;p19"/>
          <p:cNvCxnSpPr/>
          <p:nvPr/>
        </p:nvCxnSpPr>
        <p:spPr>
          <a:xfrm>
            <a:off x="3202182" y="3461109"/>
            <a:ext cx="0" cy="146100"/>
          </a:xfrm>
          <a:prstGeom prst="straightConnector1">
            <a:avLst/>
          </a:prstGeom>
          <a:noFill/>
          <a:ln cap="flat" cmpd="sng" w="225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9"/>
          <p:cNvSpPr/>
          <p:nvPr/>
        </p:nvSpPr>
        <p:spPr>
          <a:xfrm>
            <a:off x="3283419" y="3444862"/>
            <a:ext cx="31845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48"/>
              <a:buFont typeface="Quattrocento Sans"/>
              <a:buNone/>
            </a:pPr>
            <a:r>
              <a:rPr b="0" i="0" lang="pt-BR" sz="94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Framework React integra melhor projetos full stack</a:t>
            </a:r>
            <a:endParaRPr b="0" i="0" sz="94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6580088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181" name="Google Shape;181;p19"/>
          <p:cNvSpPr/>
          <p:nvPr/>
        </p:nvSpPr>
        <p:spPr>
          <a:xfrm>
            <a:off x="6743544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6906999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7050022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6747345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i="0" lang="pt-BR" sz="4317" u="none" cap="none" strike="noStrike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6747235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DECISÃO</a:t>
            </a:r>
            <a:endParaRPr b="0" i="0" sz="982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ARQUITETURA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05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ReactLab · 2º ADS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7694676" y="4937760"/>
            <a:ext cx="4251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25310" y="1620815"/>
            <a:ext cx="5692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3200"/>
              <a:buFont typeface="Quattrocento Sans"/>
              <a:buNone/>
            </a:pPr>
            <a:r>
              <a:rPr b="1" i="0" lang="pt-BR" sz="32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Estado entra. Interface reage.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32210" y="2213564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0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Eventos atualizam o estado; React reconcilia a árvore e confirma mudanças no DOM.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>
            <a:off x="532196" y="2716972"/>
            <a:ext cx="0" cy="150900"/>
          </a:xfrm>
          <a:prstGeom prst="straightConnector1">
            <a:avLst/>
          </a:prstGeom>
          <a:noFill/>
          <a:ln cap="flat" cmpd="sng" w="233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20"/>
          <p:cNvSpPr/>
          <p:nvPr/>
        </p:nvSpPr>
        <p:spPr>
          <a:xfrm>
            <a:off x="616105" y="2700191"/>
            <a:ext cx="3155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79"/>
              <a:buFont typeface="Quattrocento Sans"/>
              <a:buNone/>
            </a:pPr>
            <a:r>
              <a:rPr b="0" i="0" lang="pt-BR" sz="979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Componentes + JSX</a:t>
            </a:r>
            <a:endParaRPr b="0" i="0" sz="979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2668689" y="2708560"/>
            <a:ext cx="0" cy="150900"/>
          </a:xfrm>
          <a:prstGeom prst="straightConnector1">
            <a:avLst/>
          </a:prstGeom>
          <a:noFill/>
          <a:ln cap="flat" cmpd="sng" w="233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20"/>
          <p:cNvSpPr/>
          <p:nvPr/>
        </p:nvSpPr>
        <p:spPr>
          <a:xfrm>
            <a:off x="2752597" y="2691778"/>
            <a:ext cx="328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79"/>
              <a:buFont typeface="Quattrocento Sans"/>
              <a:buNone/>
            </a:pPr>
            <a:r>
              <a:rPr b="0" i="0" lang="pt-BR" sz="979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Props: entrada</a:t>
            </a:r>
            <a:endParaRPr b="0" i="0" sz="979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>
            <a:off x="532196" y="2977084"/>
            <a:ext cx="0" cy="150900"/>
          </a:xfrm>
          <a:prstGeom prst="straightConnector1">
            <a:avLst/>
          </a:prstGeom>
          <a:noFill/>
          <a:ln cap="flat" cmpd="sng" w="233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0"/>
          <p:cNvSpPr/>
          <p:nvPr/>
        </p:nvSpPr>
        <p:spPr>
          <a:xfrm>
            <a:off x="616105" y="2960303"/>
            <a:ext cx="3155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79"/>
              <a:buFont typeface="Quattrocento Sans"/>
              <a:buNone/>
            </a:pPr>
            <a:r>
              <a:rPr b="0" i="0" lang="pt-BR" sz="979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State: memória</a:t>
            </a:r>
            <a:endParaRPr b="0" i="0" sz="979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>
            <a:off x="2668689" y="2968671"/>
            <a:ext cx="0" cy="150900"/>
          </a:xfrm>
          <a:prstGeom prst="straightConnector1">
            <a:avLst/>
          </a:prstGeom>
          <a:noFill/>
          <a:ln cap="flat" cmpd="sng" w="233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20"/>
          <p:cNvSpPr/>
          <p:nvPr/>
        </p:nvSpPr>
        <p:spPr>
          <a:xfrm>
            <a:off x="2752597" y="2951890"/>
            <a:ext cx="328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79"/>
              <a:buFont typeface="Quattrocento Sans"/>
              <a:buNone/>
            </a:pPr>
            <a:r>
              <a:rPr b="0" i="0" lang="pt-BR" sz="979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Hooks: lógica</a:t>
            </a:r>
            <a:endParaRPr b="0" i="0" sz="979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06" name="Google Shape;206;p20"/>
          <p:cNvCxnSpPr/>
          <p:nvPr/>
        </p:nvCxnSpPr>
        <p:spPr>
          <a:xfrm>
            <a:off x="532196" y="3237196"/>
            <a:ext cx="0" cy="150900"/>
          </a:xfrm>
          <a:prstGeom prst="straightConnector1">
            <a:avLst/>
          </a:prstGeom>
          <a:noFill/>
          <a:ln cap="flat" cmpd="sng" w="233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20"/>
          <p:cNvSpPr/>
          <p:nvPr/>
        </p:nvSpPr>
        <p:spPr>
          <a:xfrm>
            <a:off x="616105" y="3220414"/>
            <a:ext cx="3155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79"/>
              <a:buFont typeface="Quattrocento Sans"/>
              <a:buNone/>
            </a:pPr>
            <a:r>
              <a:rPr b="0" i="0" lang="pt-BR" sz="979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Context: compartilhamento</a:t>
            </a:r>
            <a:endParaRPr b="0" i="0" sz="979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2668689" y="3228783"/>
            <a:ext cx="0" cy="150900"/>
          </a:xfrm>
          <a:prstGeom prst="straightConnector1">
            <a:avLst/>
          </a:prstGeom>
          <a:noFill/>
          <a:ln cap="flat" cmpd="sng" w="233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20"/>
          <p:cNvSpPr/>
          <p:nvPr/>
        </p:nvSpPr>
        <p:spPr>
          <a:xfrm>
            <a:off x="2752597" y="3212002"/>
            <a:ext cx="328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979"/>
              <a:buFont typeface="Quattrocento Sans"/>
              <a:buNone/>
            </a:pPr>
            <a:r>
              <a:rPr b="0" i="0" lang="pt-BR" sz="979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DOM + Router + Vite</a:t>
            </a:r>
            <a:endParaRPr b="0" i="0" sz="979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580088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211" name="Google Shape;211;p20"/>
          <p:cNvSpPr/>
          <p:nvPr/>
        </p:nvSpPr>
        <p:spPr>
          <a:xfrm>
            <a:off x="6743544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6906999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7050022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6747345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i="0" lang="pt-BR" sz="4317" u="none" cap="none" strike="noStrike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747235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ARQUITETURA</a:t>
            </a:r>
            <a:endParaRPr b="0" i="0" sz="982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PRÉ-REQUISITOS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06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ReactLab · 2º ADS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7694676" y="4937760"/>
            <a:ext cx="5103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478849" y="1441793"/>
            <a:ext cx="56922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3200"/>
              <a:buFont typeface="Quattrocento Sans"/>
              <a:buNone/>
            </a:pPr>
            <a:r>
              <a:rPr b="1" i="0" lang="pt-BR" sz="32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amplia uma base Web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3200"/>
              <a:buFont typeface="Quattrocento Sans"/>
              <a:buNone/>
            </a:pPr>
            <a:r>
              <a:rPr b="1" i="0" lang="pt-BR" sz="32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sólida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85749" y="2463471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1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JSX não substitui HTML, CSS ou JavaScript: ele os conecta.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28" name="Google Shape;228;p21"/>
          <p:cNvCxnSpPr/>
          <p:nvPr/>
        </p:nvCxnSpPr>
        <p:spPr>
          <a:xfrm>
            <a:off x="485697" y="2964076"/>
            <a:ext cx="0" cy="154200"/>
          </a:xfrm>
          <a:prstGeom prst="straightConnector1">
            <a:avLst/>
          </a:prstGeom>
          <a:noFill/>
          <a:ln cap="flat" cmpd="sng" w="238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21"/>
          <p:cNvSpPr/>
          <p:nvPr/>
        </p:nvSpPr>
        <p:spPr>
          <a:xfrm>
            <a:off x="571443" y="2946928"/>
            <a:ext cx="3224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0"/>
              <a:buFont typeface="Quattrocento Sans"/>
              <a:buNone/>
            </a:pPr>
            <a:r>
              <a:rPr b="0" i="0" lang="pt-BR" sz="10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HTML semântico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30" name="Google Shape;230;p21"/>
          <p:cNvCxnSpPr/>
          <p:nvPr/>
        </p:nvCxnSpPr>
        <p:spPr>
          <a:xfrm>
            <a:off x="2506654" y="2981226"/>
            <a:ext cx="0" cy="154200"/>
          </a:xfrm>
          <a:prstGeom prst="straightConnector1">
            <a:avLst/>
          </a:prstGeom>
          <a:noFill/>
          <a:ln cap="flat" cmpd="sng" w="238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21"/>
          <p:cNvSpPr/>
          <p:nvPr/>
        </p:nvSpPr>
        <p:spPr>
          <a:xfrm>
            <a:off x="2592400" y="2964078"/>
            <a:ext cx="3361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0"/>
              <a:buFont typeface="Quattrocento Sans"/>
              <a:buNone/>
            </a:pPr>
            <a:r>
              <a:rPr b="0" i="0" lang="pt-BR" sz="10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CSS responsivo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>
            <a:off x="485697" y="3229883"/>
            <a:ext cx="0" cy="154200"/>
          </a:xfrm>
          <a:prstGeom prst="straightConnector1">
            <a:avLst/>
          </a:prstGeom>
          <a:noFill/>
          <a:ln cap="flat" cmpd="sng" w="238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21"/>
          <p:cNvSpPr/>
          <p:nvPr/>
        </p:nvSpPr>
        <p:spPr>
          <a:xfrm>
            <a:off x="571443" y="3212734"/>
            <a:ext cx="3224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0"/>
              <a:buFont typeface="Quattrocento Sans"/>
              <a:buNone/>
            </a:pPr>
            <a:r>
              <a:rPr b="0" i="0" lang="pt-BR" sz="10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JavaScript moderno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34" name="Google Shape;234;p21"/>
          <p:cNvCxnSpPr/>
          <p:nvPr/>
        </p:nvCxnSpPr>
        <p:spPr>
          <a:xfrm>
            <a:off x="2506654" y="3247033"/>
            <a:ext cx="0" cy="154200"/>
          </a:xfrm>
          <a:prstGeom prst="straightConnector1">
            <a:avLst/>
          </a:prstGeom>
          <a:noFill/>
          <a:ln cap="flat" cmpd="sng" w="238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21"/>
          <p:cNvSpPr/>
          <p:nvPr/>
        </p:nvSpPr>
        <p:spPr>
          <a:xfrm>
            <a:off x="2592400" y="3229884"/>
            <a:ext cx="3361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0"/>
              <a:buFont typeface="Quattrocento Sans"/>
              <a:buNone/>
            </a:pPr>
            <a:r>
              <a:rPr b="0" i="0" lang="pt-BR" sz="10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Node.js e npm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>
            <a:off x="485697" y="3495690"/>
            <a:ext cx="0" cy="154200"/>
          </a:xfrm>
          <a:prstGeom prst="straightConnector1">
            <a:avLst/>
          </a:prstGeom>
          <a:noFill/>
          <a:ln cap="flat" cmpd="sng" w="238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21"/>
          <p:cNvSpPr/>
          <p:nvPr/>
        </p:nvSpPr>
        <p:spPr>
          <a:xfrm>
            <a:off x="571443" y="3478541"/>
            <a:ext cx="3224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0"/>
              <a:buFont typeface="Quattrocento Sans"/>
              <a:buNone/>
            </a:pPr>
            <a:r>
              <a:rPr b="0" i="0" lang="pt-BR" sz="10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 APIs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38" name="Google Shape;238;p21"/>
          <p:cNvCxnSpPr/>
          <p:nvPr/>
        </p:nvCxnSpPr>
        <p:spPr>
          <a:xfrm>
            <a:off x="2506654" y="3512840"/>
            <a:ext cx="0" cy="154200"/>
          </a:xfrm>
          <a:prstGeom prst="straightConnector1">
            <a:avLst/>
          </a:prstGeom>
          <a:noFill/>
          <a:ln cap="flat" cmpd="sng" w="238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21"/>
          <p:cNvSpPr/>
          <p:nvPr/>
        </p:nvSpPr>
        <p:spPr>
          <a:xfrm>
            <a:off x="2592400" y="3495691"/>
            <a:ext cx="3361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0"/>
              <a:buFont typeface="Quattrocento Sans"/>
              <a:buNone/>
            </a:pPr>
            <a:r>
              <a:rPr b="0" i="0" lang="pt-BR" sz="10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TypeScript, Git e rotas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6583964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241" name="Google Shape;241;p21"/>
          <p:cNvSpPr/>
          <p:nvPr/>
        </p:nvSpPr>
        <p:spPr>
          <a:xfrm>
            <a:off x="6747420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6910875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7053898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6751221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i="0" lang="pt-BR" sz="4317" u="none" cap="none" strike="noStrike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751111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PRÉ-REQUISITOS</a:t>
            </a:r>
            <a:endParaRPr b="0" i="0" sz="982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INSTALAÇÃO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07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vite.dev/guide · react.dev/learn/build-a-react-app-from-scratch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7694676" y="4937760"/>
            <a:ext cx="5952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82615" y="1337310"/>
            <a:ext cx="612648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32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Criando um projeto React com Vite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582615" y="1844802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0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Ferramenta atual, rápida e adequada a uma aplicação client-side.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58" name="Google Shape;258;p22"/>
          <p:cNvCxnSpPr/>
          <p:nvPr/>
        </p:nvCxnSpPr>
        <p:spPr>
          <a:xfrm>
            <a:off x="582601" y="2317847"/>
            <a:ext cx="0" cy="156900"/>
          </a:xfrm>
          <a:prstGeom prst="straightConnector1">
            <a:avLst/>
          </a:prstGeom>
          <a:noFill/>
          <a:ln cap="flat" cmpd="sng" w="242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2"/>
          <p:cNvSpPr/>
          <p:nvPr/>
        </p:nvSpPr>
        <p:spPr>
          <a:xfrm>
            <a:off x="669844" y="2300398"/>
            <a:ext cx="328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18"/>
              <a:buFont typeface="Quattrocento Sans"/>
              <a:buNone/>
            </a:pPr>
            <a:r>
              <a:rPr b="0" i="0" lang="pt-BR" sz="101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Node.js 20.19+ ou 22.12+</a:t>
            </a:r>
            <a:endParaRPr b="0" i="0" sz="101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60" name="Google Shape;260;p22"/>
          <p:cNvCxnSpPr/>
          <p:nvPr/>
        </p:nvCxnSpPr>
        <p:spPr>
          <a:xfrm>
            <a:off x="2411545" y="2335304"/>
            <a:ext cx="0" cy="156900"/>
          </a:xfrm>
          <a:prstGeom prst="straightConnector1">
            <a:avLst/>
          </a:prstGeom>
          <a:noFill/>
          <a:ln cap="flat" cmpd="sng" w="242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22"/>
          <p:cNvSpPr/>
          <p:nvPr/>
        </p:nvSpPr>
        <p:spPr>
          <a:xfrm>
            <a:off x="2498788" y="2317855"/>
            <a:ext cx="3420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18"/>
              <a:buFont typeface="Quattrocento Sans"/>
              <a:buNone/>
            </a:pPr>
            <a:r>
              <a:rPr b="0" i="0" lang="pt-BR" sz="101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19.3.0</a:t>
            </a:r>
            <a:endParaRPr b="0" i="0" sz="101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62" name="Google Shape;262;p22"/>
          <p:cNvCxnSpPr/>
          <p:nvPr/>
        </p:nvCxnSpPr>
        <p:spPr>
          <a:xfrm>
            <a:off x="582601" y="2588301"/>
            <a:ext cx="0" cy="156900"/>
          </a:xfrm>
          <a:prstGeom prst="straightConnector1">
            <a:avLst/>
          </a:prstGeom>
          <a:noFill/>
          <a:ln cap="flat" cmpd="sng" w="242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22"/>
          <p:cNvSpPr/>
          <p:nvPr/>
        </p:nvSpPr>
        <p:spPr>
          <a:xfrm>
            <a:off x="669844" y="2570852"/>
            <a:ext cx="328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18"/>
              <a:buFont typeface="Quattrocento Sans"/>
              <a:buNone/>
            </a:pPr>
            <a:r>
              <a:rPr b="0" i="0" lang="pt-BR" sz="101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Vite 8.3.0</a:t>
            </a:r>
            <a:endParaRPr b="0" i="0" sz="101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64" name="Google Shape;264;p22"/>
          <p:cNvCxnSpPr/>
          <p:nvPr/>
        </p:nvCxnSpPr>
        <p:spPr>
          <a:xfrm>
            <a:off x="2411545" y="2605758"/>
            <a:ext cx="0" cy="156900"/>
          </a:xfrm>
          <a:prstGeom prst="straightConnector1">
            <a:avLst/>
          </a:prstGeom>
          <a:noFill/>
          <a:ln cap="flat" cmpd="sng" w="242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22"/>
          <p:cNvSpPr/>
          <p:nvPr/>
        </p:nvSpPr>
        <p:spPr>
          <a:xfrm>
            <a:off x="2498788" y="2588309"/>
            <a:ext cx="3420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18"/>
              <a:buFont typeface="Quattrocento Sans"/>
              <a:buNone/>
            </a:pPr>
            <a:r>
              <a:rPr b="0" i="0" lang="pt-BR" sz="101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Router 7.18.4</a:t>
            </a:r>
            <a:endParaRPr b="0" i="0" sz="101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582604" y="3035675"/>
            <a:ext cx="5472600" cy="848400"/>
          </a:xfrm>
          <a:prstGeom prst="rect">
            <a:avLst/>
          </a:prstGeom>
          <a:solidFill>
            <a:srgbClr val="0B1012"/>
          </a:solidFill>
          <a:ln cap="flat" cmpd="sng" w="14425">
            <a:solidFill>
              <a:srgbClr val="344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550" lIns="97550" spcFirstLastPara="1" rIns="97550" wrap="square" tIns="9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688101" y="3152712"/>
            <a:ext cx="52617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EDF8"/>
              </a:buClr>
              <a:buSzPts val="853"/>
              <a:buFont typeface="Consolas"/>
              <a:buNone/>
            </a:pPr>
            <a:r>
              <a:rPr b="0" i="0" lang="pt-BR" sz="853" u="none" cap="none" strike="noStrike">
                <a:solidFill>
                  <a:srgbClr val="B8EDF8"/>
                </a:solidFill>
                <a:latin typeface="Consolas"/>
                <a:ea typeface="Consolas"/>
                <a:cs typeface="Consolas"/>
                <a:sym typeface="Consolas"/>
              </a:rPr>
              <a:t>npm create vite@latest react-seminario -- --template react-ts</a:t>
            </a:r>
            <a:endParaRPr b="0" i="0" sz="85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EDF8"/>
              </a:buClr>
              <a:buSzPts val="853"/>
              <a:buFont typeface="Consolas"/>
              <a:buNone/>
            </a:pPr>
            <a:r>
              <a:rPr b="0" i="0" lang="pt-BR" sz="853" u="none" cap="none" strike="noStrike">
                <a:solidFill>
                  <a:srgbClr val="B8EDF8"/>
                </a:solidFill>
                <a:latin typeface="Consolas"/>
                <a:ea typeface="Consolas"/>
                <a:cs typeface="Consolas"/>
                <a:sym typeface="Consolas"/>
              </a:rPr>
              <a:t>cd react-seminario</a:t>
            </a:r>
            <a:endParaRPr b="0" i="0" sz="85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EDF8"/>
              </a:buClr>
              <a:buSzPts val="853"/>
              <a:buFont typeface="Consolas"/>
              <a:buNone/>
            </a:pPr>
            <a:r>
              <a:rPr b="0" i="0" lang="pt-BR" sz="853" u="none" cap="none" strike="noStrike">
                <a:solidFill>
                  <a:srgbClr val="B8EDF8"/>
                </a:solidFill>
                <a:latin typeface="Consolas"/>
                <a:ea typeface="Consolas"/>
                <a:cs typeface="Consolas"/>
                <a:sym typeface="Consolas"/>
              </a:rPr>
              <a:t>npm install</a:t>
            </a:r>
            <a:endParaRPr b="0" i="0" sz="85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EDF8"/>
              </a:buClr>
              <a:buSzPts val="853"/>
              <a:buFont typeface="Consolas"/>
              <a:buNone/>
            </a:pPr>
            <a:r>
              <a:rPr b="0" i="0" lang="pt-BR" sz="853" u="none" cap="none" strike="noStrike">
                <a:solidFill>
                  <a:srgbClr val="B8EDF8"/>
                </a:solidFill>
                <a:latin typeface="Consolas"/>
                <a:ea typeface="Consolas"/>
                <a:cs typeface="Consolas"/>
                <a:sym typeface="Consolas"/>
              </a:rPr>
              <a:t>npm run dev</a:t>
            </a:r>
            <a:endParaRPr b="0" i="0" sz="85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6583964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269" name="Google Shape;269;p22"/>
          <p:cNvSpPr/>
          <p:nvPr/>
        </p:nvSpPr>
        <p:spPr>
          <a:xfrm>
            <a:off x="6747420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6910875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7053898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6751221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i="0" lang="pt-BR" sz="4317" u="none" cap="none" strike="noStrike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6751111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INSTALA</a:t>
            </a: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ÇÃO</a:t>
            </a:r>
            <a:endParaRPr b="1" sz="982">
              <a:solidFill>
                <a:srgbClr val="ECF4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ESTRUTURA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08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ReactLab · 2º ADS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7694676" y="4937760"/>
            <a:ext cx="6804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591258" y="1405168"/>
            <a:ext cx="56922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Responsabilidades separadas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arquivo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598158" y="2388983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1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Entrada, rotas, páginas, estado e componentes permanecem fáceis de localizar.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86" name="Google Shape;286;p23"/>
          <p:cNvCxnSpPr/>
          <p:nvPr/>
        </p:nvCxnSpPr>
        <p:spPr>
          <a:xfrm>
            <a:off x="598106" y="2929023"/>
            <a:ext cx="0" cy="169500"/>
          </a:xfrm>
          <a:prstGeom prst="straightConnector1">
            <a:avLst/>
          </a:prstGeom>
          <a:noFill/>
          <a:ln cap="flat" cmpd="sng" w="261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23"/>
          <p:cNvSpPr/>
          <p:nvPr/>
        </p:nvSpPr>
        <p:spPr>
          <a:xfrm>
            <a:off x="692204" y="2910203"/>
            <a:ext cx="3538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src/main.tsx · raiz React</a:t>
            </a:r>
            <a:endParaRPr b="0" i="0" sz="109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88" name="Google Shape;288;p23"/>
          <p:cNvCxnSpPr/>
          <p:nvPr/>
        </p:nvCxnSpPr>
        <p:spPr>
          <a:xfrm>
            <a:off x="3271031" y="2947848"/>
            <a:ext cx="0" cy="169500"/>
          </a:xfrm>
          <a:prstGeom prst="straightConnector1">
            <a:avLst/>
          </a:prstGeom>
          <a:noFill/>
          <a:ln cap="flat" cmpd="sng" w="261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23"/>
          <p:cNvSpPr/>
          <p:nvPr/>
        </p:nvSpPr>
        <p:spPr>
          <a:xfrm>
            <a:off x="3365130" y="2929028"/>
            <a:ext cx="36885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src/App.tsx · rotas e layout</a:t>
            </a:r>
            <a:endParaRPr b="0" i="0" sz="109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90" name="Google Shape;290;p23"/>
          <p:cNvCxnSpPr/>
          <p:nvPr/>
        </p:nvCxnSpPr>
        <p:spPr>
          <a:xfrm>
            <a:off x="598106" y="3220720"/>
            <a:ext cx="0" cy="169500"/>
          </a:xfrm>
          <a:prstGeom prst="straightConnector1">
            <a:avLst/>
          </a:prstGeom>
          <a:noFill/>
          <a:ln cap="flat" cmpd="sng" w="261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23"/>
          <p:cNvSpPr/>
          <p:nvPr/>
        </p:nvSpPr>
        <p:spPr>
          <a:xfrm>
            <a:off x="692204" y="3201901"/>
            <a:ext cx="3538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src/pages · telas</a:t>
            </a:r>
            <a:endParaRPr b="0" i="0" sz="109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92" name="Google Shape;292;p23"/>
          <p:cNvCxnSpPr/>
          <p:nvPr/>
        </p:nvCxnSpPr>
        <p:spPr>
          <a:xfrm>
            <a:off x="3271031" y="3239545"/>
            <a:ext cx="0" cy="169500"/>
          </a:xfrm>
          <a:prstGeom prst="straightConnector1">
            <a:avLst/>
          </a:prstGeom>
          <a:noFill/>
          <a:ln cap="flat" cmpd="sng" w="261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23"/>
          <p:cNvSpPr/>
          <p:nvPr/>
        </p:nvSpPr>
        <p:spPr>
          <a:xfrm>
            <a:off x="3365130" y="3220726"/>
            <a:ext cx="36885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src/components · peças reutilizáveis</a:t>
            </a:r>
            <a:endParaRPr b="0" i="0" sz="109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94" name="Google Shape;294;p23"/>
          <p:cNvCxnSpPr/>
          <p:nvPr/>
        </p:nvCxnSpPr>
        <p:spPr>
          <a:xfrm>
            <a:off x="598106" y="3512417"/>
            <a:ext cx="0" cy="169500"/>
          </a:xfrm>
          <a:prstGeom prst="straightConnector1">
            <a:avLst/>
          </a:prstGeom>
          <a:noFill/>
          <a:ln cap="flat" cmpd="sng" w="261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23"/>
          <p:cNvSpPr/>
          <p:nvPr/>
        </p:nvSpPr>
        <p:spPr>
          <a:xfrm>
            <a:off x="692204" y="3493598"/>
            <a:ext cx="3538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src/context · estado compartilhado</a:t>
            </a:r>
            <a:endParaRPr b="0" i="0" sz="109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96" name="Google Shape;296;p23"/>
          <p:cNvCxnSpPr/>
          <p:nvPr/>
        </p:nvCxnSpPr>
        <p:spPr>
          <a:xfrm>
            <a:off x="3271031" y="3531242"/>
            <a:ext cx="0" cy="169500"/>
          </a:xfrm>
          <a:prstGeom prst="straightConnector1">
            <a:avLst/>
          </a:prstGeom>
          <a:noFill/>
          <a:ln cap="flat" cmpd="sng" w="261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23"/>
          <p:cNvSpPr/>
          <p:nvPr/>
        </p:nvSpPr>
        <p:spPr>
          <a:xfrm>
            <a:off x="3365130" y="3512423"/>
            <a:ext cx="36885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src/data · conteúdo e fontes</a:t>
            </a:r>
            <a:endParaRPr b="0" i="0" sz="109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6583964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299" name="Google Shape;299;p23"/>
          <p:cNvSpPr/>
          <p:nvPr/>
        </p:nvSpPr>
        <p:spPr>
          <a:xfrm>
            <a:off x="6747420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6910875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7053898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6751221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i="0" lang="pt-BR" sz="4317" u="none" cap="none" strike="noStrike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6751111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ESTRUTURA</a:t>
            </a:r>
            <a:endParaRPr b="1" sz="982">
              <a:solidFill>
                <a:srgbClr val="ECF4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RECURSOS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09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react.dev/reference/react/hooks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7694676" y="4937760"/>
            <a:ext cx="7653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636888" y="1089660"/>
            <a:ext cx="56922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Componentes pequenos,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estado previsível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643776" y="2132175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1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Props levam dados; eventos disparam ações; effects sincronizam sistemas externos.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16" name="Google Shape;316;p24"/>
          <p:cNvCxnSpPr/>
          <p:nvPr/>
        </p:nvCxnSpPr>
        <p:spPr>
          <a:xfrm>
            <a:off x="632999" y="2604994"/>
            <a:ext cx="0" cy="155400"/>
          </a:xfrm>
          <a:prstGeom prst="straightConnector1">
            <a:avLst/>
          </a:prstGeom>
          <a:noFill/>
          <a:ln cap="flat" cmpd="sng" w="239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24"/>
          <p:cNvSpPr/>
          <p:nvPr/>
        </p:nvSpPr>
        <p:spPr>
          <a:xfrm>
            <a:off x="719314" y="2587730"/>
            <a:ext cx="32454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7"/>
              <a:buFont typeface="Quattrocento Sans"/>
              <a:buNone/>
            </a:pPr>
            <a:r>
              <a:rPr b="0" i="0" lang="pt-BR" sz="1007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Componentes + props</a:t>
            </a:r>
            <a:endParaRPr b="0" i="0" sz="100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18" name="Google Shape;318;p24"/>
          <p:cNvCxnSpPr/>
          <p:nvPr/>
        </p:nvCxnSpPr>
        <p:spPr>
          <a:xfrm>
            <a:off x="2580823" y="2622244"/>
            <a:ext cx="0" cy="155400"/>
          </a:xfrm>
          <a:prstGeom prst="straightConnector1">
            <a:avLst/>
          </a:prstGeom>
          <a:noFill/>
          <a:ln cap="flat" cmpd="sng" w="239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24"/>
          <p:cNvSpPr/>
          <p:nvPr/>
        </p:nvSpPr>
        <p:spPr>
          <a:xfrm>
            <a:off x="2667138" y="2604980"/>
            <a:ext cx="33837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7"/>
              <a:buFont typeface="Quattrocento Sans"/>
              <a:buNone/>
            </a:pPr>
            <a:r>
              <a:rPr b="0" i="0" lang="pt-BR" sz="1007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JSX condicional</a:t>
            </a:r>
            <a:endParaRPr b="0" i="0" sz="100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20" name="Google Shape;320;p24"/>
          <p:cNvCxnSpPr/>
          <p:nvPr/>
        </p:nvCxnSpPr>
        <p:spPr>
          <a:xfrm>
            <a:off x="632999" y="2872576"/>
            <a:ext cx="0" cy="155400"/>
          </a:xfrm>
          <a:prstGeom prst="straightConnector1">
            <a:avLst/>
          </a:prstGeom>
          <a:noFill/>
          <a:ln cap="flat" cmpd="sng" w="239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24"/>
          <p:cNvSpPr/>
          <p:nvPr/>
        </p:nvSpPr>
        <p:spPr>
          <a:xfrm>
            <a:off x="719314" y="2855313"/>
            <a:ext cx="32454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7"/>
              <a:buFont typeface="Quattrocento Sans"/>
              <a:buNone/>
            </a:pPr>
            <a:r>
              <a:rPr b="0" i="0" lang="pt-BR" sz="1007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useReducer</a:t>
            </a:r>
            <a:endParaRPr b="0" i="0" sz="100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22" name="Google Shape;322;p24"/>
          <p:cNvCxnSpPr/>
          <p:nvPr/>
        </p:nvCxnSpPr>
        <p:spPr>
          <a:xfrm>
            <a:off x="2580823" y="2889826"/>
            <a:ext cx="0" cy="155400"/>
          </a:xfrm>
          <a:prstGeom prst="straightConnector1">
            <a:avLst/>
          </a:prstGeom>
          <a:noFill/>
          <a:ln cap="flat" cmpd="sng" w="239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24"/>
          <p:cNvSpPr/>
          <p:nvPr/>
        </p:nvSpPr>
        <p:spPr>
          <a:xfrm>
            <a:off x="2667138" y="2872563"/>
            <a:ext cx="33837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7"/>
              <a:buFont typeface="Quattrocento Sans"/>
              <a:buNone/>
            </a:pPr>
            <a:r>
              <a:rPr b="0" i="0" lang="pt-BR" sz="1007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useEffect</a:t>
            </a:r>
            <a:endParaRPr b="0" i="0" sz="100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24" name="Google Shape;324;p24"/>
          <p:cNvCxnSpPr/>
          <p:nvPr/>
        </p:nvCxnSpPr>
        <p:spPr>
          <a:xfrm>
            <a:off x="632999" y="3140158"/>
            <a:ext cx="0" cy="155400"/>
          </a:xfrm>
          <a:prstGeom prst="straightConnector1">
            <a:avLst/>
          </a:prstGeom>
          <a:noFill/>
          <a:ln cap="flat" cmpd="sng" w="239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24"/>
          <p:cNvSpPr/>
          <p:nvPr/>
        </p:nvSpPr>
        <p:spPr>
          <a:xfrm>
            <a:off x="719314" y="3122895"/>
            <a:ext cx="32454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7"/>
              <a:buFont typeface="Quattrocento Sans"/>
              <a:buNone/>
            </a:pPr>
            <a:r>
              <a:rPr b="0" i="0" lang="pt-BR" sz="1007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</a:t>
            </a:r>
            <a:endParaRPr b="0" i="0" sz="100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26" name="Google Shape;326;p24"/>
          <p:cNvCxnSpPr/>
          <p:nvPr/>
        </p:nvCxnSpPr>
        <p:spPr>
          <a:xfrm>
            <a:off x="2580823" y="3157408"/>
            <a:ext cx="0" cy="155400"/>
          </a:xfrm>
          <a:prstGeom prst="straightConnector1">
            <a:avLst/>
          </a:prstGeom>
          <a:noFill/>
          <a:ln cap="flat" cmpd="sng" w="239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24"/>
          <p:cNvSpPr/>
          <p:nvPr/>
        </p:nvSpPr>
        <p:spPr>
          <a:xfrm>
            <a:off x="2667138" y="3140145"/>
            <a:ext cx="33837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07"/>
              <a:buFont typeface="Quattrocento Sans"/>
              <a:buNone/>
            </a:pPr>
            <a:r>
              <a:rPr b="0" i="0" lang="pt-BR" sz="1007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Listas com key</a:t>
            </a:r>
            <a:endParaRPr b="0" i="0" sz="100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636878" y="3516238"/>
            <a:ext cx="5417700" cy="1017300"/>
          </a:xfrm>
          <a:prstGeom prst="rect">
            <a:avLst/>
          </a:prstGeom>
          <a:solidFill>
            <a:srgbClr val="0B1012"/>
          </a:solidFill>
          <a:ln cap="flat" cmpd="sng" w="14750">
            <a:solidFill>
              <a:srgbClr val="344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700" lIns="99700" spcFirstLastPara="1" rIns="99700" wrap="square" tIns="99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4"/>
          <p:cNvSpPr/>
          <p:nvPr/>
        </p:nvSpPr>
        <p:spPr>
          <a:xfrm>
            <a:off x="741309" y="3635899"/>
            <a:ext cx="52083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EDF8"/>
              </a:buClr>
              <a:buSzPts val="872"/>
              <a:buFont typeface="Consolas"/>
              <a:buNone/>
            </a:pPr>
            <a:r>
              <a:rPr b="0" i="0" lang="pt-BR" sz="872" u="none" cap="none" strike="noStrike">
                <a:solidFill>
                  <a:srgbClr val="B8EDF8"/>
                </a:solidFill>
                <a:latin typeface="Consolas"/>
                <a:ea typeface="Consolas"/>
                <a:cs typeface="Consolas"/>
                <a:sym typeface="Consolas"/>
              </a:rPr>
              <a:t>const [tasks, dispatch] = useReducer(reducer, initial);</a:t>
            </a:r>
            <a:endParaRPr b="0" i="0" sz="872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2"/>
              <a:buFont typeface="Quattrocento Sans"/>
              <a:buNone/>
            </a:pPr>
            <a:r>
              <a:t/>
            </a:r>
            <a:endParaRPr b="0" i="0" sz="872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EDF8"/>
              </a:buClr>
              <a:buSzPts val="872"/>
              <a:buFont typeface="Consolas"/>
              <a:buNone/>
            </a:pPr>
            <a:r>
              <a:rPr b="0" i="0" lang="pt-BR" sz="872" u="none" cap="none" strike="noStrike">
                <a:solidFill>
                  <a:srgbClr val="B8EDF8"/>
                </a:solidFill>
                <a:latin typeface="Consolas"/>
                <a:ea typeface="Consolas"/>
                <a:cs typeface="Consolas"/>
                <a:sym typeface="Consolas"/>
              </a:rPr>
              <a:t>useEffect(() =&gt; {</a:t>
            </a:r>
            <a:endParaRPr b="0" i="0" sz="872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EDF8"/>
              </a:buClr>
              <a:buSzPts val="872"/>
              <a:buFont typeface="Consolas"/>
              <a:buNone/>
            </a:pPr>
            <a:r>
              <a:rPr b="0" i="0" lang="pt-BR" sz="872" u="none" cap="none" strike="noStrike">
                <a:solidFill>
                  <a:srgbClr val="B8EDF8"/>
                </a:solidFill>
                <a:latin typeface="Consolas"/>
                <a:ea typeface="Consolas"/>
                <a:cs typeface="Consolas"/>
                <a:sym typeface="Consolas"/>
              </a:rPr>
              <a:t>  localStorage.setItem("tasks", JSON.stringify(tasks));</a:t>
            </a:r>
            <a:endParaRPr b="0" i="0" sz="872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EDF8"/>
              </a:buClr>
              <a:buSzPts val="872"/>
              <a:buFont typeface="Consolas"/>
              <a:buNone/>
            </a:pPr>
            <a:r>
              <a:rPr b="0" i="0" lang="pt-BR" sz="872" u="none" cap="none" strike="noStrike">
                <a:solidFill>
                  <a:srgbClr val="B8EDF8"/>
                </a:solidFill>
                <a:latin typeface="Consolas"/>
                <a:ea typeface="Consolas"/>
                <a:cs typeface="Consolas"/>
                <a:sym typeface="Consolas"/>
              </a:rPr>
              <a:t>}, [tasks]);</a:t>
            </a:r>
            <a:endParaRPr b="0" i="0" sz="872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6583964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331" name="Google Shape;331;p24"/>
          <p:cNvSpPr/>
          <p:nvPr/>
        </p:nvSpPr>
        <p:spPr>
          <a:xfrm>
            <a:off x="6747420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6910875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7053898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6751221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i="0" lang="pt-BR" sz="4317" u="none" cap="none" strike="noStrike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6751111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RECURSOS</a:t>
            </a:r>
            <a:endParaRPr b="1" sz="982">
              <a:solidFill>
                <a:srgbClr val="ECF4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10 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· ANÁLISE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10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ReactLab · 2º ADS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5"/>
          <p:cNvSpPr/>
          <p:nvPr/>
        </p:nvSpPr>
        <p:spPr>
          <a:xfrm>
            <a:off x="7694676" y="4937760"/>
            <a:ext cx="8505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649349" y="1469368"/>
            <a:ext cx="56922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Produtividade com escolhas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arquiteturais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649349" y="2468558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1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organiza interfaces complexas, mas não entrega uma arquitetura completa sozinho.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48" name="Google Shape;348;p25"/>
          <p:cNvCxnSpPr/>
          <p:nvPr/>
        </p:nvCxnSpPr>
        <p:spPr>
          <a:xfrm>
            <a:off x="656234" y="2939304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25"/>
          <p:cNvSpPr/>
          <p:nvPr/>
        </p:nvSpPr>
        <p:spPr>
          <a:xfrm>
            <a:off x="746936" y="2921164"/>
            <a:ext cx="3410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Reuso e composição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50" name="Google Shape;350;p25"/>
          <p:cNvCxnSpPr/>
          <p:nvPr/>
        </p:nvCxnSpPr>
        <p:spPr>
          <a:xfrm>
            <a:off x="3326314" y="2930154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25"/>
          <p:cNvSpPr/>
          <p:nvPr/>
        </p:nvSpPr>
        <p:spPr>
          <a:xfrm>
            <a:off x="3417016" y="2912014"/>
            <a:ext cx="35556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Ecossistema amplo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52" name="Google Shape;352;p25"/>
          <p:cNvCxnSpPr/>
          <p:nvPr/>
        </p:nvCxnSpPr>
        <p:spPr>
          <a:xfrm>
            <a:off x="656234" y="3220476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25"/>
          <p:cNvSpPr/>
          <p:nvPr/>
        </p:nvSpPr>
        <p:spPr>
          <a:xfrm>
            <a:off x="746936" y="3202336"/>
            <a:ext cx="3410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Adoção gradual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54" name="Google Shape;354;p25"/>
          <p:cNvCxnSpPr/>
          <p:nvPr/>
        </p:nvCxnSpPr>
        <p:spPr>
          <a:xfrm>
            <a:off x="3326314" y="3211326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25"/>
          <p:cNvSpPr/>
          <p:nvPr/>
        </p:nvSpPr>
        <p:spPr>
          <a:xfrm>
            <a:off x="3417016" y="3193186"/>
            <a:ext cx="35556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 Muitas decisões externas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56" name="Google Shape;356;p25"/>
          <p:cNvCxnSpPr/>
          <p:nvPr/>
        </p:nvCxnSpPr>
        <p:spPr>
          <a:xfrm>
            <a:off x="656234" y="3501647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25"/>
          <p:cNvSpPr/>
          <p:nvPr/>
        </p:nvSpPr>
        <p:spPr>
          <a:xfrm>
            <a:off x="746936" y="3483507"/>
            <a:ext cx="3410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 Estado e effects exigem disciplina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58" name="Google Shape;358;p25"/>
          <p:cNvCxnSpPr/>
          <p:nvPr/>
        </p:nvCxnSpPr>
        <p:spPr>
          <a:xfrm>
            <a:off x="3326314" y="3492497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25"/>
          <p:cNvSpPr/>
          <p:nvPr/>
        </p:nvSpPr>
        <p:spPr>
          <a:xfrm>
            <a:off x="3417016" y="3474357"/>
            <a:ext cx="35556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 Desempenho deve ser medido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6583964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361" name="Google Shape;361;p25"/>
          <p:cNvSpPr/>
          <p:nvPr/>
        </p:nvSpPr>
        <p:spPr>
          <a:xfrm>
            <a:off x="6747420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6910875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7053898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>
            <a:off x="6751221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6751111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ANÁLISE</a:t>
            </a:r>
            <a:endParaRPr b="1" sz="982">
              <a:solidFill>
                <a:srgbClr val="ECF4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MERCADO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11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pt-br.react.dev/blog/2026/02/24/the-react-foundation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7694676" y="4937760"/>
            <a:ext cx="9354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6"/>
          <p:cNvSpPr/>
          <p:nvPr/>
        </p:nvSpPr>
        <p:spPr>
          <a:xfrm>
            <a:off x="582615" y="1427374"/>
            <a:ext cx="56922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 ecossistema mantido por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várias empresas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582604" y="2442939"/>
            <a:ext cx="4812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1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React Foundation reúne oito membros fundadores e mantém a governança técnica independente.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78" name="Google Shape;378;p26"/>
          <p:cNvCxnSpPr/>
          <p:nvPr/>
        </p:nvCxnSpPr>
        <p:spPr>
          <a:xfrm>
            <a:off x="582600" y="2966660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26"/>
          <p:cNvSpPr/>
          <p:nvPr/>
        </p:nvSpPr>
        <p:spPr>
          <a:xfrm>
            <a:off x="671136" y="2948953"/>
            <a:ext cx="33288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Amazon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80" name="Google Shape;380;p26"/>
          <p:cNvCxnSpPr/>
          <p:nvPr/>
        </p:nvCxnSpPr>
        <p:spPr>
          <a:xfrm>
            <a:off x="2920080" y="2966660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26"/>
          <p:cNvSpPr/>
          <p:nvPr/>
        </p:nvSpPr>
        <p:spPr>
          <a:xfrm>
            <a:off x="3008616" y="2948953"/>
            <a:ext cx="3470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Callstack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82" name="Google Shape;382;p26"/>
          <p:cNvCxnSpPr/>
          <p:nvPr/>
        </p:nvCxnSpPr>
        <p:spPr>
          <a:xfrm>
            <a:off x="582600" y="3241116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26"/>
          <p:cNvSpPr/>
          <p:nvPr/>
        </p:nvSpPr>
        <p:spPr>
          <a:xfrm>
            <a:off x="671136" y="3223409"/>
            <a:ext cx="33288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Expo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84" name="Google Shape;384;p26"/>
          <p:cNvCxnSpPr/>
          <p:nvPr/>
        </p:nvCxnSpPr>
        <p:spPr>
          <a:xfrm>
            <a:off x="2920080" y="3241116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26"/>
          <p:cNvSpPr/>
          <p:nvPr/>
        </p:nvSpPr>
        <p:spPr>
          <a:xfrm>
            <a:off x="3008616" y="3223409"/>
            <a:ext cx="3470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Huawei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86" name="Google Shape;386;p26"/>
          <p:cNvCxnSpPr/>
          <p:nvPr/>
        </p:nvCxnSpPr>
        <p:spPr>
          <a:xfrm>
            <a:off x="582600" y="3515572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26"/>
          <p:cNvSpPr/>
          <p:nvPr/>
        </p:nvSpPr>
        <p:spPr>
          <a:xfrm>
            <a:off x="671136" y="3497865"/>
            <a:ext cx="33288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Meta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88" name="Google Shape;388;p26"/>
          <p:cNvCxnSpPr/>
          <p:nvPr/>
        </p:nvCxnSpPr>
        <p:spPr>
          <a:xfrm>
            <a:off x="2920080" y="3515572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26"/>
          <p:cNvSpPr/>
          <p:nvPr/>
        </p:nvSpPr>
        <p:spPr>
          <a:xfrm>
            <a:off x="3008616" y="3497865"/>
            <a:ext cx="3470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Microsoft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90" name="Google Shape;390;p26"/>
          <p:cNvCxnSpPr/>
          <p:nvPr/>
        </p:nvCxnSpPr>
        <p:spPr>
          <a:xfrm>
            <a:off x="582600" y="3790028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26"/>
          <p:cNvSpPr/>
          <p:nvPr/>
        </p:nvSpPr>
        <p:spPr>
          <a:xfrm>
            <a:off x="671136" y="3772321"/>
            <a:ext cx="33288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Software Mansion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92" name="Google Shape;392;p26"/>
          <p:cNvCxnSpPr/>
          <p:nvPr/>
        </p:nvCxnSpPr>
        <p:spPr>
          <a:xfrm>
            <a:off x="2920080" y="3790028"/>
            <a:ext cx="0" cy="159300"/>
          </a:xfrm>
          <a:prstGeom prst="straightConnector1">
            <a:avLst/>
          </a:prstGeom>
          <a:noFill/>
          <a:ln cap="flat" cmpd="sng" w="246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26"/>
          <p:cNvSpPr/>
          <p:nvPr/>
        </p:nvSpPr>
        <p:spPr>
          <a:xfrm>
            <a:off x="3008616" y="3772321"/>
            <a:ext cx="3470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33"/>
              <a:buFont typeface="Quattrocento Sans"/>
              <a:buNone/>
            </a:pPr>
            <a:r>
              <a:rPr b="0" i="0" lang="pt-BR" sz="103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Vercel</a:t>
            </a:r>
            <a:endParaRPr b="0" i="0" sz="103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6583964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395" name="Google Shape;395;p26"/>
          <p:cNvSpPr/>
          <p:nvPr/>
        </p:nvSpPr>
        <p:spPr>
          <a:xfrm>
            <a:off x="6747420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6910875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7053898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6751221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6751111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MERCADO</a:t>
            </a:r>
            <a:endParaRPr b="1" sz="982">
              <a:solidFill>
                <a:srgbClr val="ECF4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SEGURANÇA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6" name="Google Shape;406;p27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12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react.dev/blog/2025/12/03/critical-security-vulnerability-in-react-server-components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7694676" y="4937760"/>
            <a:ext cx="10206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496838" y="1463075"/>
            <a:ext cx="53973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CVE-2025-55182 exige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atualização imediata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486586" y="2406233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1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Execução remota não autenticada em React Server Components. CVSS 10.0.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12" name="Google Shape;412;p27"/>
          <p:cNvCxnSpPr/>
          <p:nvPr/>
        </p:nvCxnSpPr>
        <p:spPr>
          <a:xfrm>
            <a:off x="486572" y="2875848"/>
            <a:ext cx="0" cy="161700"/>
          </a:xfrm>
          <a:prstGeom prst="straightConnector1">
            <a:avLst/>
          </a:prstGeom>
          <a:noFill/>
          <a:ln cap="flat" cmpd="sng" w="249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27"/>
          <p:cNvSpPr/>
          <p:nvPr/>
        </p:nvSpPr>
        <p:spPr>
          <a:xfrm>
            <a:off x="576375" y="2857900"/>
            <a:ext cx="329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48"/>
              <a:buFont typeface="Quattrocento Sans"/>
              <a:buNone/>
            </a:pPr>
            <a:r>
              <a:rPr b="0" i="0" lang="pt-BR" sz="104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Afetadas: 19.0.0, 19.1.0, 19.1.1 e 19.2.0</a:t>
            </a:r>
            <a:endParaRPr b="0" i="0" sz="104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14" name="Google Shape;414;p27"/>
          <p:cNvCxnSpPr/>
          <p:nvPr/>
        </p:nvCxnSpPr>
        <p:spPr>
          <a:xfrm>
            <a:off x="3840477" y="2902710"/>
            <a:ext cx="0" cy="161700"/>
          </a:xfrm>
          <a:prstGeom prst="straightConnector1">
            <a:avLst/>
          </a:prstGeom>
          <a:noFill/>
          <a:ln cap="flat" cmpd="sng" w="249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27"/>
          <p:cNvSpPr/>
          <p:nvPr/>
        </p:nvSpPr>
        <p:spPr>
          <a:xfrm>
            <a:off x="3930278" y="2875850"/>
            <a:ext cx="352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48"/>
              <a:buFont typeface="Quattrocento Sans"/>
              <a:buNone/>
            </a:pPr>
            <a:r>
              <a:rPr b="0" i="0" lang="pt-BR" sz="104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Pacotes react-server-dom-*</a:t>
            </a:r>
            <a:endParaRPr b="0" i="0" sz="104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16" name="Google Shape;416;p27"/>
          <p:cNvCxnSpPr/>
          <p:nvPr/>
        </p:nvCxnSpPr>
        <p:spPr>
          <a:xfrm>
            <a:off x="486572" y="3154226"/>
            <a:ext cx="0" cy="161700"/>
          </a:xfrm>
          <a:prstGeom prst="straightConnector1">
            <a:avLst/>
          </a:prstGeom>
          <a:noFill/>
          <a:ln cap="flat" cmpd="sng" w="249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27"/>
          <p:cNvSpPr/>
          <p:nvPr/>
        </p:nvSpPr>
        <p:spPr>
          <a:xfrm>
            <a:off x="576375" y="3136275"/>
            <a:ext cx="327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48"/>
              <a:buFont typeface="Quattrocento Sans"/>
              <a:buNone/>
            </a:pPr>
            <a:r>
              <a:rPr b="0" i="0" lang="pt-BR" sz="104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Correções iniciais: 19.0.1, 19.1.2 e 19.2.1</a:t>
            </a:r>
            <a:endParaRPr b="0" i="0" sz="104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18" name="Google Shape;418;p27"/>
          <p:cNvCxnSpPr/>
          <p:nvPr/>
        </p:nvCxnSpPr>
        <p:spPr>
          <a:xfrm>
            <a:off x="3840477" y="3181088"/>
            <a:ext cx="0" cy="161700"/>
          </a:xfrm>
          <a:prstGeom prst="straightConnector1">
            <a:avLst/>
          </a:prstGeom>
          <a:noFill/>
          <a:ln cap="flat" cmpd="sng" w="249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27"/>
          <p:cNvSpPr/>
          <p:nvPr/>
        </p:nvSpPr>
        <p:spPr>
          <a:xfrm>
            <a:off x="3930272" y="3221275"/>
            <a:ext cx="25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48"/>
              <a:buFont typeface="Quattrocento Sans"/>
              <a:buNone/>
            </a:pPr>
            <a:r>
              <a:rPr b="0" i="0" lang="pt-BR" sz="104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Atualizar para a última versão suportada e refazer o build</a:t>
            </a:r>
            <a:endParaRPr b="0" i="0" sz="104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20" name="Google Shape;420;p27"/>
          <p:cNvCxnSpPr/>
          <p:nvPr/>
        </p:nvCxnSpPr>
        <p:spPr>
          <a:xfrm>
            <a:off x="486572" y="3432604"/>
            <a:ext cx="0" cy="161700"/>
          </a:xfrm>
          <a:prstGeom prst="straightConnector1">
            <a:avLst/>
          </a:prstGeom>
          <a:noFill/>
          <a:ln cap="flat" cmpd="sng" w="249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27"/>
          <p:cNvSpPr/>
          <p:nvPr/>
        </p:nvSpPr>
        <p:spPr>
          <a:xfrm>
            <a:off x="576375" y="3465023"/>
            <a:ext cx="316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48"/>
              <a:buFont typeface="Quattrocento Sans"/>
              <a:buNone/>
            </a:pPr>
            <a:r>
              <a:rPr b="0" i="0" lang="pt-BR" sz="104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Este Vite client-side, sem RSC, não é afetado diretamente</a:t>
            </a:r>
            <a:endParaRPr b="0" i="0" sz="104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6583964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423" name="Google Shape;423;p27"/>
          <p:cNvSpPr/>
          <p:nvPr/>
        </p:nvSpPr>
        <p:spPr>
          <a:xfrm>
            <a:off x="6747420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7"/>
          <p:cNvSpPr/>
          <p:nvPr/>
        </p:nvSpPr>
        <p:spPr>
          <a:xfrm>
            <a:off x="6910875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7"/>
          <p:cNvSpPr/>
          <p:nvPr/>
        </p:nvSpPr>
        <p:spPr>
          <a:xfrm>
            <a:off x="7053898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6751221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6751111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SEGURANÇA</a:t>
            </a:r>
            <a:endParaRPr b="1" sz="982">
              <a:solidFill>
                <a:srgbClr val="ECF4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PROJETO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4" name="Google Shape;434;p28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13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5" name="Google Shape;435;p28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ReactLab · 2º ADS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6" name="Google Shape;436;p28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8"/>
          <p:cNvSpPr/>
          <p:nvPr/>
        </p:nvSpPr>
        <p:spPr>
          <a:xfrm>
            <a:off x="7694676" y="4937760"/>
            <a:ext cx="11055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8"/>
          <p:cNvSpPr/>
          <p:nvPr/>
        </p:nvSpPr>
        <p:spPr>
          <a:xfrm>
            <a:off x="590355" y="1457050"/>
            <a:ext cx="67188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3200"/>
              <a:buFont typeface="Quattrocento Sans"/>
              <a:buNone/>
            </a:pPr>
            <a:r>
              <a:rPr b="1" i="0" lang="pt-BR" sz="32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ReactLab une conteúdo e</a:t>
            </a:r>
            <a:r>
              <a:rPr lang="pt-BR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pt-BR" sz="32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prática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9" name="Google Shape;439;p28"/>
          <p:cNvSpPr/>
          <p:nvPr/>
        </p:nvSpPr>
        <p:spPr>
          <a:xfrm>
            <a:off x="590368" y="2295558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1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mesma aplicação </a:t>
            </a:r>
            <a:r>
              <a:rPr lang="pt-BR" sz="1100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pública</a:t>
            </a:r>
            <a:r>
              <a:rPr b="0" i="0" lang="pt-BR" sz="11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 seminário e demonstra estado, efeitos e rotas.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40" name="Google Shape;440;p28"/>
          <p:cNvCxnSpPr/>
          <p:nvPr/>
        </p:nvCxnSpPr>
        <p:spPr>
          <a:xfrm>
            <a:off x="590353" y="2757634"/>
            <a:ext cx="0" cy="164100"/>
          </a:xfrm>
          <a:prstGeom prst="straightConnector1">
            <a:avLst/>
          </a:prstGeom>
          <a:noFill/>
          <a:ln cap="flat" cmpd="sng" w="253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28"/>
          <p:cNvSpPr/>
          <p:nvPr/>
        </p:nvSpPr>
        <p:spPr>
          <a:xfrm>
            <a:off x="681505" y="2739403"/>
            <a:ext cx="34272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63"/>
              <a:buFont typeface="Quattrocento Sans"/>
              <a:buNone/>
            </a:pPr>
            <a:r>
              <a:rPr b="0" i="0" lang="pt-BR" sz="106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Página pública do seminário</a:t>
            </a:r>
            <a:endParaRPr b="0" i="0" sz="106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42" name="Google Shape;442;p28"/>
          <p:cNvCxnSpPr/>
          <p:nvPr/>
        </p:nvCxnSpPr>
        <p:spPr>
          <a:xfrm>
            <a:off x="3330023" y="2757634"/>
            <a:ext cx="0" cy="164100"/>
          </a:xfrm>
          <a:prstGeom prst="straightConnector1">
            <a:avLst/>
          </a:prstGeom>
          <a:noFill/>
          <a:ln cap="flat" cmpd="sng" w="253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28"/>
          <p:cNvSpPr/>
          <p:nvPr/>
        </p:nvSpPr>
        <p:spPr>
          <a:xfrm>
            <a:off x="3421176" y="2739403"/>
            <a:ext cx="35733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63"/>
              <a:buFont typeface="Quattrocento Sans"/>
              <a:buNone/>
            </a:pPr>
            <a:r>
              <a:rPr b="0" i="0" lang="pt-BR" sz="106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Deck HTML com teclado</a:t>
            </a:r>
            <a:endParaRPr b="0" i="0" sz="106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44" name="Google Shape;444;p28"/>
          <p:cNvCxnSpPr/>
          <p:nvPr/>
        </p:nvCxnSpPr>
        <p:spPr>
          <a:xfrm>
            <a:off x="590353" y="3040202"/>
            <a:ext cx="0" cy="164100"/>
          </a:xfrm>
          <a:prstGeom prst="straightConnector1">
            <a:avLst/>
          </a:prstGeom>
          <a:noFill/>
          <a:ln cap="flat" cmpd="sng" w="253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28"/>
          <p:cNvSpPr/>
          <p:nvPr/>
        </p:nvSpPr>
        <p:spPr>
          <a:xfrm>
            <a:off x="681505" y="3021972"/>
            <a:ext cx="34272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63"/>
              <a:buFont typeface="Quattrocento Sans"/>
              <a:buNone/>
            </a:pPr>
            <a:r>
              <a:rPr b="0" i="0" lang="pt-BR" sz="106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Quadro de tarefas</a:t>
            </a:r>
            <a:endParaRPr b="0" i="0" sz="106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46" name="Google Shape;446;p28"/>
          <p:cNvCxnSpPr/>
          <p:nvPr/>
        </p:nvCxnSpPr>
        <p:spPr>
          <a:xfrm>
            <a:off x="3330023" y="3040202"/>
            <a:ext cx="0" cy="164100"/>
          </a:xfrm>
          <a:prstGeom prst="straightConnector1">
            <a:avLst/>
          </a:prstGeom>
          <a:noFill/>
          <a:ln cap="flat" cmpd="sng" w="253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28"/>
          <p:cNvSpPr/>
          <p:nvPr/>
        </p:nvSpPr>
        <p:spPr>
          <a:xfrm>
            <a:off x="3421176" y="3021972"/>
            <a:ext cx="35733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63"/>
              <a:buFont typeface="Quattrocento Sans"/>
              <a:buNone/>
            </a:pPr>
            <a:r>
              <a:rPr b="0" i="0" lang="pt-BR" sz="106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Persistência em localStorage</a:t>
            </a:r>
            <a:endParaRPr b="0" i="0" sz="106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48" name="Google Shape;448;p28"/>
          <p:cNvCxnSpPr/>
          <p:nvPr/>
        </p:nvCxnSpPr>
        <p:spPr>
          <a:xfrm>
            <a:off x="590353" y="3322771"/>
            <a:ext cx="0" cy="164100"/>
          </a:xfrm>
          <a:prstGeom prst="straightConnector1">
            <a:avLst/>
          </a:prstGeom>
          <a:noFill/>
          <a:ln cap="flat" cmpd="sng" w="253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p28"/>
          <p:cNvSpPr/>
          <p:nvPr/>
        </p:nvSpPr>
        <p:spPr>
          <a:xfrm>
            <a:off x="681505" y="3304541"/>
            <a:ext cx="34272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63"/>
              <a:buFont typeface="Quattrocento Sans"/>
              <a:buNone/>
            </a:pPr>
            <a:r>
              <a:rPr b="0" i="0" lang="pt-BR" sz="106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HashRouter no GitHub Pages</a:t>
            </a:r>
            <a:endParaRPr b="0" i="0" sz="106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50" name="Google Shape;450;p28"/>
          <p:cNvCxnSpPr/>
          <p:nvPr/>
        </p:nvCxnSpPr>
        <p:spPr>
          <a:xfrm>
            <a:off x="3330023" y="3322771"/>
            <a:ext cx="0" cy="164100"/>
          </a:xfrm>
          <a:prstGeom prst="straightConnector1">
            <a:avLst/>
          </a:prstGeom>
          <a:noFill/>
          <a:ln cap="flat" cmpd="sng" w="2532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28"/>
          <p:cNvSpPr/>
          <p:nvPr/>
        </p:nvSpPr>
        <p:spPr>
          <a:xfrm>
            <a:off x="3421176" y="3304541"/>
            <a:ext cx="35733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63"/>
              <a:buFont typeface="Quattrocento Sans"/>
              <a:buNone/>
            </a:pPr>
            <a:r>
              <a:rPr b="0" i="0" lang="pt-BR" sz="1063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Layout responsivo</a:t>
            </a:r>
            <a:endParaRPr b="0" i="0" sz="1063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6583964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453" name="Google Shape;453;p28"/>
          <p:cNvSpPr/>
          <p:nvPr/>
        </p:nvSpPr>
        <p:spPr>
          <a:xfrm>
            <a:off x="6747420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8"/>
          <p:cNvSpPr/>
          <p:nvPr/>
        </p:nvSpPr>
        <p:spPr>
          <a:xfrm>
            <a:off x="6910875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8"/>
          <p:cNvSpPr/>
          <p:nvPr/>
        </p:nvSpPr>
        <p:spPr>
          <a:xfrm>
            <a:off x="7053898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8"/>
          <p:cNvSpPr/>
          <p:nvPr/>
        </p:nvSpPr>
        <p:spPr>
          <a:xfrm>
            <a:off x="6751221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6751111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PROJETO</a:t>
            </a:r>
            <a:endParaRPr b="1" sz="982">
              <a:solidFill>
                <a:srgbClr val="ECF4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9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DEMONSTRAÇÃO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14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ReactLab · 2º ADS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9"/>
          <p:cNvSpPr/>
          <p:nvPr/>
        </p:nvSpPr>
        <p:spPr>
          <a:xfrm>
            <a:off x="7694676" y="4937760"/>
            <a:ext cx="11904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9"/>
          <p:cNvSpPr/>
          <p:nvPr/>
        </p:nvSpPr>
        <p:spPr>
          <a:xfrm>
            <a:off x="707537" y="1550093"/>
            <a:ext cx="56922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 instalação à interação em 3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minutos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714437" y="2492883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1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Terminal, interação funcional e recursos React aparecem na mesma sequência.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70" name="Google Shape;470;p29"/>
          <p:cNvCxnSpPr/>
          <p:nvPr/>
        </p:nvCxnSpPr>
        <p:spPr>
          <a:xfrm>
            <a:off x="714385" y="2893449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29"/>
          <p:cNvSpPr/>
          <p:nvPr/>
        </p:nvSpPr>
        <p:spPr>
          <a:xfrm>
            <a:off x="805087" y="2875309"/>
            <a:ext cx="3410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npm ci + npm run dev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72" name="Google Shape;472;p29"/>
          <p:cNvCxnSpPr/>
          <p:nvPr/>
        </p:nvCxnSpPr>
        <p:spPr>
          <a:xfrm>
            <a:off x="3737188" y="2884299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29"/>
          <p:cNvSpPr/>
          <p:nvPr/>
        </p:nvSpPr>
        <p:spPr>
          <a:xfrm>
            <a:off x="3827890" y="2866159"/>
            <a:ext cx="35556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Criar e concluir uma tarefa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74" name="Google Shape;474;p29"/>
          <p:cNvCxnSpPr/>
          <p:nvPr/>
        </p:nvCxnSpPr>
        <p:spPr>
          <a:xfrm>
            <a:off x="714385" y="3174620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29"/>
          <p:cNvSpPr/>
          <p:nvPr/>
        </p:nvSpPr>
        <p:spPr>
          <a:xfrm>
            <a:off x="805087" y="3156480"/>
            <a:ext cx="3410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Filtrar e remover tarefas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76" name="Google Shape;476;p29"/>
          <p:cNvCxnSpPr/>
          <p:nvPr/>
        </p:nvCxnSpPr>
        <p:spPr>
          <a:xfrm>
            <a:off x="3737188" y="3165470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7" name="Google Shape;477;p29"/>
          <p:cNvSpPr/>
          <p:nvPr/>
        </p:nvSpPr>
        <p:spPr>
          <a:xfrm>
            <a:off x="3827890" y="3147330"/>
            <a:ext cx="35556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Recarregar e confirmar persistência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78" name="Google Shape;478;p29"/>
          <p:cNvCxnSpPr/>
          <p:nvPr/>
        </p:nvCxnSpPr>
        <p:spPr>
          <a:xfrm>
            <a:off x="714385" y="3455792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29"/>
          <p:cNvSpPr/>
          <p:nvPr/>
        </p:nvSpPr>
        <p:spPr>
          <a:xfrm>
            <a:off x="805087" y="3437652"/>
            <a:ext cx="3410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Mostrar Context, useReducer e useEffect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80" name="Google Shape;480;p29"/>
          <p:cNvCxnSpPr/>
          <p:nvPr/>
        </p:nvCxnSpPr>
        <p:spPr>
          <a:xfrm>
            <a:off x="3737188" y="3446642"/>
            <a:ext cx="0" cy="163200"/>
          </a:xfrm>
          <a:prstGeom prst="straightConnector1">
            <a:avLst/>
          </a:prstGeom>
          <a:noFill/>
          <a:ln cap="flat" cmpd="sng" w="252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29"/>
          <p:cNvSpPr/>
          <p:nvPr/>
        </p:nvSpPr>
        <p:spPr>
          <a:xfrm>
            <a:off x="3827890" y="3428502"/>
            <a:ext cx="35556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58"/>
              <a:buFont typeface="Quattrocento Sans"/>
              <a:buNone/>
            </a:pPr>
            <a:r>
              <a:rPr b="0" i="0" lang="pt-BR" sz="105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npm run build</a:t>
            </a:r>
            <a:endParaRPr b="0" i="0" sz="105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6583964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483" name="Google Shape;483;p29"/>
          <p:cNvSpPr/>
          <p:nvPr/>
        </p:nvSpPr>
        <p:spPr>
          <a:xfrm>
            <a:off x="6747420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9"/>
          <p:cNvSpPr/>
          <p:nvPr/>
        </p:nvSpPr>
        <p:spPr>
          <a:xfrm>
            <a:off x="6910875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9"/>
          <p:cNvSpPr/>
          <p:nvPr/>
        </p:nvSpPr>
        <p:spPr>
          <a:xfrm>
            <a:off x="7053898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9"/>
          <p:cNvSpPr/>
          <p:nvPr/>
        </p:nvSpPr>
        <p:spPr>
          <a:xfrm>
            <a:off x="6751221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7" name="Google Shape;487;p29"/>
          <p:cNvSpPr/>
          <p:nvPr/>
        </p:nvSpPr>
        <p:spPr>
          <a:xfrm>
            <a:off x="6751111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DEMONSTRA</a:t>
            </a: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ÇÃO</a:t>
            </a:r>
            <a:endParaRPr b="1" sz="982">
              <a:solidFill>
                <a:srgbClr val="ECF4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D20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0"/>
          <p:cNvSpPr/>
          <p:nvPr/>
        </p:nvSpPr>
        <p:spPr>
          <a:xfrm>
            <a:off x="288036" y="192024"/>
            <a:ext cx="404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pt-BR" sz="600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 · CONCLUSÃO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4" name="Google Shape;494;p30"/>
          <p:cNvSpPr/>
          <p:nvPr/>
        </p:nvSpPr>
        <p:spPr>
          <a:xfrm>
            <a:off x="8195310" y="192024"/>
            <a:ext cx="651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600"/>
              <a:buFont typeface="Consolas"/>
              <a:buNone/>
            </a:pPr>
            <a:r>
              <a:rPr b="1" i="0" lang="pt-BR" sz="6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15 / 15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288036" y="4930902"/>
            <a:ext cx="541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C90"/>
              </a:buClr>
              <a:buSzPts val="500"/>
              <a:buFont typeface="Consolas"/>
              <a:buNone/>
            </a:pPr>
            <a:r>
              <a:rPr b="1" i="0" lang="pt-BR" sz="500" u="none" cap="none" strike="noStrike">
                <a:solidFill>
                  <a:srgbClr val="7E8C90"/>
                </a:solidFill>
                <a:latin typeface="Consolas"/>
                <a:ea typeface="Consolas"/>
                <a:cs typeface="Consolas"/>
                <a:sym typeface="Consolas"/>
              </a:rPr>
              <a:t>react.dev · vite.dev · docs.github.com</a:t>
            </a:r>
            <a:endParaRPr b="0" i="0" sz="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6" name="Google Shape;496;p30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2E3B3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0"/>
          <p:cNvSpPr/>
          <p:nvPr/>
        </p:nvSpPr>
        <p:spPr>
          <a:xfrm>
            <a:off x="7694676" y="4937760"/>
            <a:ext cx="1275600" cy="17100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0"/>
          <p:cNvSpPr/>
          <p:nvPr/>
        </p:nvSpPr>
        <p:spPr>
          <a:xfrm>
            <a:off x="560261" y="1461506"/>
            <a:ext cx="56922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é uma escolha, não um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2900"/>
              <a:buFont typeface="Quattrocento Sans"/>
              <a:buNone/>
            </a:pPr>
            <a:r>
              <a:rPr b="1" i="0" lang="pt-BR" sz="2900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padrão automático</a:t>
            </a:r>
            <a:endParaRPr b="0" i="0" sz="2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9" name="Google Shape;499;p30"/>
          <p:cNvSpPr/>
          <p:nvPr/>
        </p:nvSpPr>
        <p:spPr>
          <a:xfrm>
            <a:off x="567140" y="2458106"/>
            <a:ext cx="567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AAD"/>
              </a:buClr>
              <a:buSzPts val="1000"/>
              <a:buFont typeface="Quattrocento Sans"/>
              <a:buNone/>
            </a:pPr>
            <a:r>
              <a:rPr b="0" i="0" lang="pt-BR" sz="1100" u="none" cap="none" strike="noStrike">
                <a:solidFill>
                  <a:srgbClr val="9CAA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Recomendamos para interfaces interativas e evolutivas; não para toda página Web.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00" name="Google Shape;500;p30"/>
          <p:cNvCxnSpPr/>
          <p:nvPr/>
        </p:nvCxnSpPr>
        <p:spPr>
          <a:xfrm>
            <a:off x="574846" y="2891513"/>
            <a:ext cx="0" cy="169500"/>
          </a:xfrm>
          <a:prstGeom prst="straightConnector1">
            <a:avLst/>
          </a:prstGeom>
          <a:noFill/>
          <a:ln cap="flat" cmpd="sng" w="261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30"/>
          <p:cNvSpPr/>
          <p:nvPr/>
        </p:nvSpPr>
        <p:spPr>
          <a:xfrm>
            <a:off x="668944" y="2872694"/>
            <a:ext cx="3538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Componentes reduzem repetição</a:t>
            </a:r>
            <a:endParaRPr b="0" i="0" sz="109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02" name="Google Shape;502;p30"/>
          <p:cNvCxnSpPr/>
          <p:nvPr/>
        </p:nvCxnSpPr>
        <p:spPr>
          <a:xfrm>
            <a:off x="3815971" y="2910338"/>
            <a:ext cx="0" cy="169500"/>
          </a:xfrm>
          <a:prstGeom prst="straightConnector1">
            <a:avLst/>
          </a:prstGeom>
          <a:noFill/>
          <a:ln cap="flat" cmpd="sng" w="261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p30"/>
          <p:cNvSpPr/>
          <p:nvPr/>
        </p:nvSpPr>
        <p:spPr>
          <a:xfrm>
            <a:off x="3910070" y="2891519"/>
            <a:ext cx="36885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Estado torna mudanças previsíveis</a:t>
            </a:r>
            <a:endParaRPr b="0" i="0" sz="109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04" name="Google Shape;504;p30"/>
          <p:cNvCxnSpPr/>
          <p:nvPr/>
        </p:nvCxnSpPr>
        <p:spPr>
          <a:xfrm>
            <a:off x="574846" y="3183210"/>
            <a:ext cx="0" cy="169500"/>
          </a:xfrm>
          <a:prstGeom prst="straightConnector1">
            <a:avLst/>
          </a:prstGeom>
          <a:noFill/>
          <a:ln cap="flat" cmpd="sng" w="261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30"/>
          <p:cNvSpPr/>
          <p:nvPr/>
        </p:nvSpPr>
        <p:spPr>
          <a:xfrm>
            <a:off x="668944" y="3164391"/>
            <a:ext cx="3538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Vite simplifica o projeto client-side</a:t>
            </a:r>
            <a:endParaRPr b="0" i="0" sz="109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06" name="Google Shape;506;p30"/>
          <p:cNvCxnSpPr/>
          <p:nvPr/>
        </p:nvCxnSpPr>
        <p:spPr>
          <a:xfrm>
            <a:off x="3815971" y="3202035"/>
            <a:ext cx="0" cy="169500"/>
          </a:xfrm>
          <a:prstGeom prst="straightConnector1">
            <a:avLst/>
          </a:prstGeom>
          <a:noFill/>
          <a:ln cap="flat" cmpd="sng" w="261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7" name="Google Shape;507;p30"/>
          <p:cNvSpPr/>
          <p:nvPr/>
        </p:nvSpPr>
        <p:spPr>
          <a:xfrm>
            <a:off x="3910070" y="3233604"/>
            <a:ext cx="36885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Framework React pode ser melhor no </a:t>
            </a:r>
            <a:endParaRPr b="0" i="0" sz="1098" u="none" cap="none" strike="noStrike">
              <a:solidFill>
                <a:srgbClr val="ECF4F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 stack</a:t>
            </a:r>
            <a:endParaRPr b="0" i="0" sz="109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08" name="Google Shape;508;p30"/>
          <p:cNvCxnSpPr/>
          <p:nvPr/>
        </p:nvCxnSpPr>
        <p:spPr>
          <a:xfrm>
            <a:off x="574846" y="3474908"/>
            <a:ext cx="0" cy="169500"/>
          </a:xfrm>
          <a:prstGeom prst="straightConnector1">
            <a:avLst/>
          </a:prstGeom>
          <a:noFill/>
          <a:ln cap="flat" cmpd="sng" w="261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30"/>
          <p:cNvSpPr/>
          <p:nvPr/>
        </p:nvSpPr>
        <p:spPr>
          <a:xfrm>
            <a:off x="668944" y="3456088"/>
            <a:ext cx="3538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1098"/>
              <a:buFont typeface="Quattrocento Sans"/>
              <a:buNone/>
            </a:pPr>
            <a:r>
              <a:rPr b="0" i="0" lang="pt-BR" sz="1098" u="none" cap="none" strike="noStrike">
                <a:solidFill>
                  <a:srgbClr val="ECF4F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Domínio técnico inclui segurança e manutenção</a:t>
            </a:r>
            <a:endParaRPr b="0" i="0" sz="1098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0" name="Google Shape;510;p30"/>
          <p:cNvSpPr/>
          <p:nvPr/>
        </p:nvSpPr>
        <p:spPr>
          <a:xfrm>
            <a:off x="6583964" y="1550100"/>
            <a:ext cx="2043300" cy="2043300"/>
          </a:xfrm>
          <a:prstGeom prst="ellipse">
            <a:avLst/>
          </a:prstGeom>
          <a:solidFill>
            <a:srgbClr val="61DAFB">
              <a:alpha val="510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4"/>
          </a:p>
        </p:txBody>
      </p:sp>
      <p:sp>
        <p:nvSpPr>
          <p:cNvPr id="511" name="Google Shape;511;p30"/>
          <p:cNvSpPr/>
          <p:nvPr/>
        </p:nvSpPr>
        <p:spPr>
          <a:xfrm>
            <a:off x="6747420" y="1713555"/>
            <a:ext cx="1716300" cy="1716300"/>
          </a:xfrm>
          <a:prstGeom prst="ellipse">
            <a:avLst/>
          </a:prstGeom>
          <a:solidFill>
            <a:srgbClr val="61DAFB">
              <a:alpha val="706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0"/>
          <p:cNvSpPr/>
          <p:nvPr/>
        </p:nvSpPr>
        <p:spPr>
          <a:xfrm>
            <a:off x="6910875" y="1877010"/>
            <a:ext cx="1389300" cy="1389300"/>
          </a:xfrm>
          <a:prstGeom prst="ellipse">
            <a:avLst/>
          </a:prstGeom>
          <a:solidFill>
            <a:srgbClr val="61DAFB">
              <a:alpha val="902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0"/>
          <p:cNvSpPr/>
          <p:nvPr/>
        </p:nvSpPr>
        <p:spPr>
          <a:xfrm>
            <a:off x="7053898" y="2020034"/>
            <a:ext cx="1103400" cy="1103400"/>
          </a:xfrm>
          <a:prstGeom prst="ellipse">
            <a:avLst/>
          </a:prstGeom>
          <a:solidFill>
            <a:srgbClr val="61DAFB">
              <a:alpha val="10980"/>
            </a:srgbClr>
          </a:solidFill>
          <a:ln cap="flat" cmpd="sng" w="7575">
            <a:solidFill>
              <a:srgbClr val="61D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0"/>
          <p:cNvSpPr/>
          <p:nvPr/>
        </p:nvSpPr>
        <p:spPr>
          <a:xfrm>
            <a:off x="6751221" y="2253161"/>
            <a:ext cx="1708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3617"/>
              <a:buFont typeface="Quattrocento Sans"/>
              <a:buNone/>
            </a:pPr>
            <a:r>
              <a:rPr b="1" lang="pt-BR" sz="4317">
                <a:solidFill>
                  <a:srgbClr val="61D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 b="0" i="0" sz="4317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5" name="Google Shape;515;p30"/>
          <p:cNvSpPr/>
          <p:nvPr/>
        </p:nvSpPr>
        <p:spPr>
          <a:xfrm>
            <a:off x="6751111" y="2756546"/>
            <a:ext cx="17088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CF4F5"/>
              </a:buClr>
              <a:buSzPts val="482"/>
              <a:buFont typeface="Consolas"/>
              <a:buNone/>
            </a:pP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CONCLUS</a:t>
            </a:r>
            <a:r>
              <a:rPr b="1" lang="pt-BR" sz="982">
                <a:solidFill>
                  <a:srgbClr val="ECF4F5"/>
                </a:solidFill>
                <a:latin typeface="Consolas"/>
                <a:ea typeface="Consolas"/>
                <a:cs typeface="Consolas"/>
                <a:sym typeface="Consolas"/>
              </a:rPr>
              <a:t>ÃO</a:t>
            </a:r>
            <a:endParaRPr b="1" sz="982">
              <a:solidFill>
                <a:srgbClr val="ECF4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